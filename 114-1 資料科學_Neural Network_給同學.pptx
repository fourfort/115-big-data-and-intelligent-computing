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</p:sldMasterIdLst>
  <p:notesMasterIdLst>
    <p:notesMasterId r:id="rId48"/>
  </p:notesMasterIdLst>
  <p:sldIdLst>
    <p:sldId id="391" r:id="rId4"/>
    <p:sldId id="492" r:id="rId5"/>
    <p:sldId id="493" r:id="rId6"/>
    <p:sldId id="494" r:id="rId7"/>
    <p:sldId id="544" r:id="rId8"/>
    <p:sldId id="496" r:id="rId9"/>
    <p:sldId id="458" r:id="rId10"/>
    <p:sldId id="502" r:id="rId11"/>
    <p:sldId id="459" r:id="rId12"/>
    <p:sldId id="501" r:id="rId13"/>
    <p:sldId id="461" r:id="rId14"/>
    <p:sldId id="497" r:id="rId15"/>
    <p:sldId id="498" r:id="rId16"/>
    <p:sldId id="503" r:id="rId17"/>
    <p:sldId id="504" r:id="rId18"/>
    <p:sldId id="505" r:id="rId19"/>
    <p:sldId id="506" r:id="rId20"/>
    <p:sldId id="507" r:id="rId21"/>
    <p:sldId id="499" r:id="rId22"/>
    <p:sldId id="500" r:id="rId23"/>
    <p:sldId id="508" r:id="rId24"/>
    <p:sldId id="515" r:id="rId25"/>
    <p:sldId id="514" r:id="rId26"/>
    <p:sldId id="519" r:id="rId27"/>
    <p:sldId id="517" r:id="rId28"/>
    <p:sldId id="518" r:id="rId29"/>
    <p:sldId id="534" r:id="rId30"/>
    <p:sldId id="532" r:id="rId31"/>
    <p:sldId id="543" r:id="rId32"/>
    <p:sldId id="533" r:id="rId33"/>
    <p:sldId id="535" r:id="rId34"/>
    <p:sldId id="536" r:id="rId35"/>
    <p:sldId id="537" r:id="rId36"/>
    <p:sldId id="538" r:id="rId37"/>
    <p:sldId id="545" r:id="rId38"/>
    <p:sldId id="524" r:id="rId39"/>
    <p:sldId id="539" r:id="rId40"/>
    <p:sldId id="522" r:id="rId41"/>
    <p:sldId id="523" r:id="rId42"/>
    <p:sldId id="526" r:id="rId43"/>
    <p:sldId id="540" r:id="rId44"/>
    <p:sldId id="541" r:id="rId45"/>
    <p:sldId id="542" r:id="rId46"/>
    <p:sldId id="448" r:id="rId4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CC"/>
    <a:srgbClr val="99CC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42" autoAdjust="0"/>
  </p:normalViewPr>
  <p:slideViewPr>
    <p:cSldViewPr>
      <p:cViewPr varScale="1">
        <p:scale>
          <a:sx n="75" d="100"/>
          <a:sy n="75" d="100"/>
        </p:scale>
        <p:origin x="87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microsoft.com/office/2016/11/relationships/changesInfo" Target="changesInfos/changesInfo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吳政瑋 Cheng-Wei Wu" userId="53965b3dbf704e9f" providerId="LiveId" clId="{8679217D-5462-4CBA-AE32-F0A0A494BAD8}"/>
    <pc:docChg chg="delSld">
      <pc:chgData name="吳政瑋 Cheng-Wei Wu" userId="53965b3dbf704e9f" providerId="LiveId" clId="{8679217D-5462-4CBA-AE32-F0A0A494BAD8}" dt="2025-12-26T10:39:51.220" v="3" actId="47"/>
      <pc:docMkLst>
        <pc:docMk/>
      </pc:docMkLst>
      <pc:sldChg chg="del">
        <pc:chgData name="吳政瑋 Cheng-Wei Wu" userId="53965b3dbf704e9f" providerId="LiveId" clId="{8679217D-5462-4CBA-AE32-F0A0A494BAD8}" dt="2025-12-26T10:39:50.466" v="2" actId="47"/>
        <pc:sldMkLst>
          <pc:docMk/>
          <pc:sldMk cId="3301472007" sldId="528"/>
        </pc:sldMkLst>
      </pc:sldChg>
      <pc:sldChg chg="del">
        <pc:chgData name="吳政瑋 Cheng-Wei Wu" userId="53965b3dbf704e9f" providerId="LiveId" clId="{8679217D-5462-4CBA-AE32-F0A0A494BAD8}" dt="2025-12-26T10:39:51.220" v="3" actId="47"/>
        <pc:sldMkLst>
          <pc:docMk/>
          <pc:sldMk cId="818516978" sldId="530"/>
        </pc:sldMkLst>
      </pc:sldChg>
      <pc:sldChg chg="del">
        <pc:chgData name="吳政瑋 Cheng-Wei Wu" userId="53965b3dbf704e9f" providerId="LiveId" clId="{8679217D-5462-4CBA-AE32-F0A0A494BAD8}" dt="2025-12-26T10:39:48.708" v="1" actId="47"/>
        <pc:sldMkLst>
          <pc:docMk/>
          <pc:sldMk cId="1353675738" sldId="531"/>
        </pc:sldMkLst>
      </pc:sldChg>
      <pc:sldChg chg="del">
        <pc:chgData name="吳政瑋 Cheng-Wei Wu" userId="53965b3dbf704e9f" providerId="LiveId" clId="{8679217D-5462-4CBA-AE32-F0A0A494BAD8}" dt="2025-12-26T10:39:47.997" v="0" actId="47"/>
        <pc:sldMkLst>
          <pc:docMk/>
          <pc:sldMk cId="4239918849" sldId="5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99EA7-2295-41D6-8E79-EBC33558DC7C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6CCD4-9FFB-4C67-8934-DE06954640B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93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繪多邊形 3"/>
          <p:cNvSpPr>
            <a:spLocks/>
          </p:cNvSpPr>
          <p:nvPr/>
        </p:nvSpPr>
        <p:spPr bwMode="auto">
          <a:xfrm>
            <a:off x="0" y="4751388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5" name="手繪多邊形 4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572085" y="3337560"/>
            <a:ext cx="8640064" cy="2301240"/>
          </a:xfrm>
        </p:spPr>
        <p:txBody>
          <a:bodyPr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577400" y="1544812"/>
            <a:ext cx="8640064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6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888010-5C9B-4A8A-97DC-B17CD0D34619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7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8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CF225-4A67-4B4B-B4B4-3850C100EC81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93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5C05E-27CD-44B8-85A8-2976313CB4A4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5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C92AA-8983-459B-917B-61D8579BA603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47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繪多邊形 3"/>
          <p:cNvSpPr>
            <a:spLocks/>
          </p:cNvSpPr>
          <p:nvPr/>
        </p:nvSpPr>
        <p:spPr bwMode="auto">
          <a:xfrm>
            <a:off x="0" y="4751388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5" name="手繪多邊形 4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3583838"/>
            <a:ext cx="88392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2485800"/>
            <a:ext cx="88392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7774A-E1A8-4FF2-9FA8-407E3D64F571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121559-765A-40F6-9DB2-2F4AEFF92691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116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68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D8DB51-BB92-494A-8B1E-2EFDAA8074D1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7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AADC6-BF04-44E0-AF6C-493FDB7CC7E7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54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5486400"/>
            <a:ext cx="5386917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6193368" y="5486400"/>
            <a:ext cx="5389033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609600" y="1516912"/>
            <a:ext cx="5386917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1516912"/>
            <a:ext cx="5389033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065BB-D859-43AF-B312-6CEBD2D00A2E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E85CA-F53E-48F7-918F-265D0644F639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51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9960864" cy="1143000"/>
          </a:xfrm>
        </p:spPr>
        <p:txBody>
          <a:bodyPr/>
          <a:lstStyle>
            <a:lvl1pPr algn="l">
              <a:defRPr sz="4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90E43D-55A4-4D90-97B4-F1635366317F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4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5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3150F-7135-44E6-8708-FA2DE26EE46E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03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CD313-09AE-454F-9642-AA942A7219AD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3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4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A56A0-D100-464A-8D9A-7D36FFEF289A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25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185528"/>
            <a:ext cx="42672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09600" y="214424"/>
            <a:ext cx="36576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94488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E9A1C-B155-4EAC-BEA6-508BF53A6E01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0875433" y="6421439"/>
            <a:ext cx="1016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B8418-9845-4713-8233-7AD4BD2F15BD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44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08976" y="1705709"/>
            <a:ext cx="4071824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420837" y="1019907"/>
            <a:ext cx="54864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08979" y="2998765"/>
            <a:ext cx="4071821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DA421-6E6D-4B64-89BE-F0F9345B5835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83A1F-817F-4B61-8E99-8A96DEC11E07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08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8F53D-92C5-4FC0-99E8-FE7F2D4F84F5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5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538B4-8DFB-478E-8511-CC929242DEEC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4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82AEEB-AD8A-4671-960B-181982752E8D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5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FAAE7-B048-448D-AD0D-C44B33A16779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87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1pPr>
                <a:lvl2pPr marL="742950" indent="-28575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2pPr>
                <a:lvl3pPr marL="11430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3pPr>
                <a:lvl4pPr marL="16002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4pPr>
                <a:lvl5pPr marL="20574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9pPr>
              </a:lstStyle>
              <a:p>
                <a:pPr algn="ctr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defRPr/>
                </a:pPr>
                <a:endParaRPr lang="en-GB" altLang="en-US" sz="2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1pPr>
                <a:lvl2pPr marL="742950" indent="-28575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2pPr>
                <a:lvl3pPr marL="11430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3pPr>
                <a:lvl4pPr marL="16002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4pPr>
                <a:lvl5pPr marL="20574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9pPr>
              </a:lstStyle>
              <a:p>
                <a:pPr algn="ctr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defRPr/>
                </a:pPr>
                <a:endParaRPr lang="en-GB" altLang="en-US" sz="2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1pPr>
                <a:lvl2pPr marL="742950" indent="-28575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2pPr>
                <a:lvl3pPr marL="11430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3pPr>
                <a:lvl4pPr marL="16002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4pPr>
                <a:lvl5pPr marL="20574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9pPr>
              </a:lstStyle>
              <a:p>
                <a:pPr algn="ctr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defRPr/>
                </a:pPr>
                <a:endParaRPr lang="en-GB" altLang="en-US" sz="2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1pPr>
                <a:lvl2pPr marL="742950" indent="-28575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2pPr>
                <a:lvl3pPr marL="11430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3pPr>
                <a:lvl4pPr marL="16002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4pPr>
                <a:lvl5pPr marL="2057400" indent="-228600" eaLnBrk="0" hangingPunct="0"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kumimoji="1" sz="2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</a:defRPr>
                </a:lvl9pPr>
              </a:lstStyle>
              <a:p>
                <a:pPr algn="ctr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defRPr/>
                </a:pPr>
                <a:endParaRPr lang="en-GB" altLang="en-US" sz="22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1pPr>
              <a:lvl2pPr marL="742950" indent="-28575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2pPr>
              <a:lvl3pPr marL="1143000" indent="-22860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3pPr>
              <a:lvl4pPr marL="1600200" indent="-22860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4pPr>
              <a:lvl5pPr marL="2057400" indent="-22860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9pPr>
            </a:lstStyle>
            <a:p>
              <a:pPr algn="ctr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defRPr/>
              </a:pPr>
              <a:endParaRPr lang="en-GB" altLang="en-US" sz="2200">
                <a:solidFill>
                  <a:srgbClr val="000000"/>
                </a:solidFill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1pPr>
              <a:lvl2pPr marL="742950" indent="-28575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2pPr>
              <a:lvl3pPr marL="1143000" indent="-22860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3pPr>
              <a:lvl4pPr marL="1600200" indent="-22860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4pPr>
              <a:lvl5pPr marL="2057400" indent="-22860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9pPr>
            </a:lstStyle>
            <a:p>
              <a:pPr algn="ctr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defRPr/>
              </a:pPr>
              <a:endParaRPr lang="en-GB" altLang="en-US" sz="2200">
                <a:solidFill>
                  <a:srgbClr val="000000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1pPr>
              <a:lvl2pPr marL="742950" indent="-28575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2pPr>
              <a:lvl3pPr marL="1143000" indent="-22860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3pPr>
              <a:lvl4pPr marL="1600200" indent="-22860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4pPr>
              <a:lvl5pPr marL="2057400" indent="-228600" eaLnBrk="0" hangingPunct="0"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kumimoji="1" sz="2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</a:defRPr>
              </a:lvl9pPr>
            </a:lstStyle>
            <a:p>
              <a:pPr algn="ctr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defRPr/>
              </a:pPr>
              <a:endParaRPr lang="en-GB" altLang="en-US" sz="2200">
                <a:solidFill>
                  <a:srgbClr val="000000"/>
                </a:solidFill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Tahoma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>
              <a:solidFill>
                <a:srgbClr val="1C1C1C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Tahoma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>
              <a:solidFill>
                <a:srgbClr val="1C1C1C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Tahoma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67A3D98-8F3A-4DCA-8B67-52833B762D24}" type="slidenum">
              <a:rPr lang="zh-TW" altLang="en-US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817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3" y="1524001"/>
            <a:ext cx="11220715" cy="460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68F1B9-BFED-4C05-BAC3-62D37F448029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342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84FFEF-1BBB-47D3-A193-F880497E80B0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3361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1524001"/>
            <a:ext cx="5080000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1524001"/>
            <a:ext cx="5080000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CA0B7-75DE-44FD-A540-4C5D1D56AEDB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058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FD458-725D-449D-89C2-9057F51627BA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314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6A9A1-BC55-4111-9BA4-2F5F2006427E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052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B7711-E3FE-4295-8B7D-97C887E5CE9C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624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6D7E96-CB97-47F9-A982-75218F14FB78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493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E15B5-3C32-4BA6-A0BB-AD70BFC14F49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807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AF38B-D30E-43F7-904A-04A6D2DDF004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2336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152401"/>
            <a:ext cx="2601384" cy="5980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152401"/>
            <a:ext cx="7600949" cy="5980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09401B-0A5C-4A05-AB23-96997A938A5F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5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B0967-07AD-4B51-B87E-24BFF32E9CD8}" type="datetimeFigureOut">
              <a:rPr lang="en-US" altLang="en-US">
                <a:solidFill>
                  <a:srgbClr val="000000"/>
                </a:solidFill>
              </a:rPr>
              <a:pPr>
                <a:defRPr/>
              </a:pPr>
              <a:t>12/26/2025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E2396-A699-4F50-8CBB-C1E8EDABDE03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5602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繪多邊形 3"/>
          <p:cNvSpPr>
            <a:spLocks/>
          </p:cNvSpPr>
          <p:nvPr/>
        </p:nvSpPr>
        <p:spPr bwMode="auto">
          <a:xfrm>
            <a:off x="0" y="4751388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5" name="手繪多邊形 4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572085" y="3337560"/>
            <a:ext cx="8640064" cy="2301240"/>
          </a:xfrm>
        </p:spPr>
        <p:txBody>
          <a:bodyPr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577400" y="1544812"/>
            <a:ext cx="8640064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6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8DD3C-A14C-4A3E-867A-BC5548C8D90E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7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8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CF225-4A67-4B4B-B4B4-3850C100EC81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296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957FC-0FCC-45A0-AFB4-1FB9DD9AA447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5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C92AA-8983-459B-917B-61D8579BA603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8859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繪多邊形 3"/>
          <p:cNvSpPr>
            <a:spLocks/>
          </p:cNvSpPr>
          <p:nvPr/>
        </p:nvSpPr>
        <p:spPr bwMode="auto">
          <a:xfrm>
            <a:off x="0" y="4751388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5" name="手繪多邊形 4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3583838"/>
            <a:ext cx="88392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2485800"/>
            <a:ext cx="88392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88D23-9338-4A00-8665-7C45F7210BBF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121559-765A-40F6-9DB2-2F4AEFF92691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924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68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1077E-B256-44C5-BF44-68A4AE9642EC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7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AADC6-BF04-44E0-AF6C-493FDB7CC7E7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5166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5486400"/>
            <a:ext cx="5386917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6193368" y="5486400"/>
            <a:ext cx="5389033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609600" y="1516912"/>
            <a:ext cx="5386917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1516912"/>
            <a:ext cx="5389033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582FF-C57C-427B-88C1-DCFFF5C2E856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E85CA-F53E-48F7-918F-265D0644F639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512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9960864" cy="1143000"/>
          </a:xfrm>
        </p:spPr>
        <p:txBody>
          <a:bodyPr/>
          <a:lstStyle>
            <a:lvl1pPr algn="l">
              <a:defRPr sz="4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84A616-9DF5-49A2-BA6D-51C88C023572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4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5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3150F-7135-44E6-8708-FA2DE26EE46E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6950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361D44-5A89-4993-934C-9D98BF97C702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3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4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A56A0-D100-464A-8D9A-7D36FFEF289A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9280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185528"/>
            <a:ext cx="42672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09600" y="214424"/>
            <a:ext cx="36576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94488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3FC36-FAC1-4B1F-B4D3-07A471105A0F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0875433" y="6421439"/>
            <a:ext cx="1016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B8418-9845-4713-8233-7AD4BD2F15BD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3232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08976" y="1705709"/>
            <a:ext cx="4071824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420837" y="1019907"/>
            <a:ext cx="54864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08979" y="2998765"/>
            <a:ext cx="4071821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22AD6-F53A-4225-9BD5-61AC6C2FC817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83A1F-817F-4B61-8E99-8A96DEC11E07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8502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640EF3-2DEA-4A28-960B-4BF183AF0178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5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538B4-8DFB-478E-8511-CC929242DEEC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9347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BD853C-257C-4305-A0DA-E6DA97765881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5" name="頁尾版面配置區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6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FAAE7-B048-448D-AD0D-C44B33A16779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20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手繪多邊形 11"/>
          <p:cNvSpPr>
            <a:spLocks/>
          </p:cNvSpPr>
          <p:nvPr/>
        </p:nvSpPr>
        <p:spPr bwMode="auto">
          <a:xfrm>
            <a:off x="0" y="4751388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16" name="手繪多邊形 15"/>
          <p:cNvSpPr>
            <a:spLocks/>
          </p:cNvSpPr>
          <p:nvPr/>
        </p:nvSpPr>
        <p:spPr bwMode="auto">
          <a:xfrm>
            <a:off x="9753600" y="0"/>
            <a:ext cx="24384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1028" name="標題版面配置區 8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9956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29" name="文字版面配置區 29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9956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09600" y="6421439"/>
            <a:ext cx="2844800" cy="365125"/>
          </a:xfrm>
          <a:prstGeom prst="rect">
            <a:avLst/>
          </a:prstGeom>
        </p:spPr>
        <p:txBody>
          <a:bodyPr vert="horz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2">
                    <a:shade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CF1A96B-272F-4E90-9B38-EF0A1737F839}" type="datetimeFigureOut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2025/12/26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4165600" y="6421439"/>
            <a:ext cx="38608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2">
                    <a:shade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10871200" y="6421439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2">
                    <a:shade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1DD93B6-F650-4543-8EEF-1C417B94E802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903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9pPr>
    </p:titleStyle>
    <p:bodyStyle>
      <a:lvl1pPr marL="419100" indent="-3825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1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555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itchFamily="34" charset="0"/>
        <a:buChar char="○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36538" algn="l" rtl="0" eaLnBrk="1" fontAlgn="base" hangingPunct="1">
        <a:spcBef>
          <a:spcPct val="20000"/>
        </a:spcBef>
        <a:spcAft>
          <a:spcPct val="0"/>
        </a:spcAft>
        <a:buClr>
          <a:srgbClr val="8D89A4"/>
        </a:buClr>
        <a:buSzPct val="9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89075" indent="-182563" algn="l" rtl="0" eaLnBrk="1" fontAlgn="base" hangingPunct="1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556684" y="633413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1066801" y="633413"/>
            <a:ext cx="438151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721785" y="1055688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214967" y="1055688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69333" y="982664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1016000" y="525463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590551" y="131603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kumimoji="1" sz="2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152400"/>
            <a:ext cx="103907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1524001"/>
            <a:ext cx="10363200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400"/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kumimoji="0" sz="1400"/>
            </a:lvl1pPr>
          </a:lstStyle>
          <a:p>
            <a:pPr algn="ctr" fontAlgn="base">
              <a:spcAft>
                <a:spcPct val="0"/>
              </a:spcAft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400"/>
            </a:lvl1pPr>
          </a:lstStyle>
          <a:p>
            <a:pPr fontAlgn="base">
              <a:spcAft>
                <a:spcPct val="0"/>
              </a:spcAft>
              <a:defRPr/>
            </a:pPr>
            <a:fld id="{A322ABB3-B153-4F0F-9B7A-E09D4BE22CC8}" type="slidenum">
              <a:rPr lang="zh-TW" alt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20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手繪多邊形 11"/>
          <p:cNvSpPr>
            <a:spLocks/>
          </p:cNvSpPr>
          <p:nvPr/>
        </p:nvSpPr>
        <p:spPr bwMode="auto">
          <a:xfrm>
            <a:off x="0" y="4751388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16" name="手繪多邊形 15"/>
          <p:cNvSpPr>
            <a:spLocks/>
          </p:cNvSpPr>
          <p:nvPr/>
        </p:nvSpPr>
        <p:spPr bwMode="auto">
          <a:xfrm>
            <a:off x="9753600" y="0"/>
            <a:ext cx="24384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1800">
              <a:solidFill>
                <a:prstClr val="white"/>
              </a:solidFill>
              <a:ea typeface="新細明體" pitchFamily="18" charset="-120"/>
            </a:endParaRPr>
          </a:p>
        </p:txBody>
      </p:sp>
      <p:sp>
        <p:nvSpPr>
          <p:cNvPr id="1028" name="標題版面配置區 8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9956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29" name="文字版面配置區 29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9956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09600" y="6421439"/>
            <a:ext cx="2844800" cy="365125"/>
          </a:xfrm>
          <a:prstGeom prst="rect">
            <a:avLst/>
          </a:prstGeom>
        </p:spPr>
        <p:txBody>
          <a:bodyPr vert="horz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2">
                    <a:shade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8DC1F86-CA6A-4D6F-B779-AAB3F5467C27}" type="datetime1">
              <a:rPr lang="en-US" altLang="zh-TW" smtClean="0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12/26/2025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4165600" y="6421439"/>
            <a:ext cx="38608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2">
                    <a:shade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10871200" y="6421439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2">
                    <a:shade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1DD93B6-F650-4543-8EEF-1C417B94E802}" type="slidenum">
              <a:rPr lang="zh-TW" altLang="en-US">
                <a:solidFill>
                  <a:srgbClr val="D4D2D0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D4D2D0">
                  <a:shade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97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/>
          <a:ea typeface="微軟正黑體" pitchFamily="34" charset="-120"/>
        </a:defRPr>
      </a:lvl9pPr>
    </p:titleStyle>
    <p:bodyStyle>
      <a:lvl1pPr marL="419100" indent="-3825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1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555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itchFamily="34" charset="0"/>
        <a:buChar char="○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36538" algn="l" rtl="0" eaLnBrk="1" fontAlgn="base" hangingPunct="1">
        <a:spcBef>
          <a:spcPct val="20000"/>
        </a:spcBef>
        <a:spcAft>
          <a:spcPct val="0"/>
        </a:spcAft>
        <a:buClr>
          <a:srgbClr val="8D89A4"/>
        </a:buClr>
        <a:buSzPct val="9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89075" indent="-182563" algn="l" rtl="0" eaLnBrk="1" fontAlgn="base" hangingPunct="1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71464" y="1752601"/>
            <a:ext cx="9396536" cy="1470025"/>
          </a:xfrm>
        </p:spPr>
        <p:txBody>
          <a:bodyPr anchor="b"/>
          <a:lstStyle/>
          <a:p>
            <a:pPr eaLnBrk="1" hangingPunct="1"/>
            <a:r>
              <a:rPr lang="en-US" altLang="zh-TW" sz="4400" b="1" dirty="0">
                <a:solidFill>
                  <a:srgbClr val="0000FF"/>
                </a:solidFill>
              </a:rPr>
              <a:t>Artificial Neural Network</a:t>
            </a:r>
            <a:endParaRPr lang="zh-TW" altLang="en-US" sz="4400" b="1" dirty="0">
              <a:solidFill>
                <a:srgbClr val="0000FF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90688" y="3425721"/>
            <a:ext cx="4343400" cy="1709738"/>
          </a:xfrm>
        </p:spPr>
        <p:txBody>
          <a:bodyPr/>
          <a:lstStyle/>
          <a:p>
            <a:pPr algn="l" eaLnBrk="1" hangingPunct="1"/>
            <a:r>
              <a:rPr lang="zh-TW" altLang="en-US" b="1" dirty="0"/>
              <a:t>國立宜蘭大學資訊工程系</a:t>
            </a:r>
            <a:endParaRPr lang="en-US" altLang="zh-TW" b="1" dirty="0"/>
          </a:p>
          <a:p>
            <a:pPr algn="l" eaLnBrk="1" hangingPunct="1"/>
            <a:r>
              <a:rPr lang="zh-TW" altLang="en-US" b="1" dirty="0"/>
              <a:t>吳政瑋 助理教授</a:t>
            </a:r>
            <a:endParaRPr lang="en-US" altLang="zh-TW" b="1" dirty="0"/>
          </a:p>
          <a:p>
            <a:pPr algn="l" eaLnBrk="1" hangingPunct="1"/>
            <a:r>
              <a:rPr lang="en-US" altLang="zh-TW" u="sng" dirty="0">
                <a:solidFill>
                  <a:srgbClr val="0000FF"/>
                </a:solidFill>
              </a:rPr>
              <a:t>wucw@niu.edu.tw</a:t>
            </a:r>
          </a:p>
        </p:txBody>
      </p:sp>
      <p:pic>
        <p:nvPicPr>
          <p:cNvPr id="4100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3551135"/>
            <a:ext cx="14192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3835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D6DB29-9AA8-C5A3-DAF1-BBDC1AE4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為什麼需要類神經網路？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5BEB46-1178-4263-1299-333C040ED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傳統方法的限制</a:t>
            </a:r>
            <a:endParaRPr lang="zh-TW" altLang="en-US" dirty="0"/>
          </a:p>
          <a:p>
            <a:pPr lvl="1"/>
            <a:r>
              <a:rPr lang="zh-TW" altLang="en-US" dirty="0"/>
              <a:t>規則需人工設計</a:t>
            </a:r>
            <a:r>
              <a:rPr lang="en-US" altLang="zh-TW" dirty="0"/>
              <a:t>(if–else)</a:t>
            </a:r>
            <a:endParaRPr lang="zh-TW" altLang="en-US" dirty="0"/>
          </a:p>
          <a:p>
            <a:pPr lvl="1"/>
            <a:r>
              <a:rPr lang="zh-TW" altLang="en-US" dirty="0"/>
              <a:t>難以處理非線性與高維資料</a:t>
            </a:r>
          </a:p>
          <a:p>
            <a:pPr lvl="1"/>
            <a:r>
              <a:rPr lang="zh-TW" altLang="en-US" dirty="0"/>
              <a:t>對雜訊與複雜模式適應性差</a:t>
            </a:r>
          </a:p>
          <a:p>
            <a:endParaRPr lang="en-US" altLang="zh-TW" b="1" dirty="0"/>
          </a:p>
          <a:p>
            <a:r>
              <a:rPr lang="zh-TW" altLang="en-US" b="1" dirty="0"/>
              <a:t>類神經網路的優勢</a:t>
            </a:r>
            <a:endParaRPr lang="zh-TW" altLang="en-US" dirty="0"/>
          </a:p>
          <a:p>
            <a:pPr lvl="1"/>
            <a:r>
              <a:rPr lang="zh-TW" altLang="en-US" dirty="0"/>
              <a:t>可從資料中自動學習特徵</a:t>
            </a:r>
          </a:p>
          <a:p>
            <a:pPr lvl="1"/>
            <a:r>
              <a:rPr lang="zh-TW" altLang="en-US" dirty="0"/>
              <a:t>擅長處理非線性問題</a:t>
            </a:r>
          </a:p>
          <a:p>
            <a:pPr lvl="1"/>
            <a:r>
              <a:rPr lang="zh-TW" altLang="en-US" dirty="0"/>
              <a:t>可應用於影像、語音、文字等複雜任務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992C49-8C51-C223-30E0-8BEF23A5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606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0F7CF6-4910-F738-D31E-F42ED4C19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fr-FR" altLang="zh-TW" dirty="0"/>
              <a:t>Biological Neurons vs. Artificial Neurons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7FAA2F-82F4-5597-8DBE-35BF66516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TW" b="1" dirty="0"/>
              <a:t>Biological Neurons </a:t>
            </a:r>
            <a:r>
              <a:rPr lang="fr-FR" altLang="zh-TW" sz="1600" b="1" dirty="0"/>
              <a:t>(</a:t>
            </a:r>
            <a:r>
              <a:rPr lang="zh-TW" altLang="en-US" sz="1600" b="1" dirty="0"/>
              <a:t>生物神經元</a:t>
            </a:r>
            <a:r>
              <a:rPr lang="en-US" altLang="zh-TW" sz="1600" b="1" dirty="0"/>
              <a:t>)</a:t>
            </a:r>
            <a:endParaRPr lang="zh-TW" altLang="en-US" sz="1600" b="1" dirty="0"/>
          </a:p>
          <a:p>
            <a:pPr lvl="1"/>
            <a:r>
              <a:rPr lang="zh-TW" altLang="en-US" dirty="0"/>
              <a:t>樹突</a:t>
            </a:r>
            <a:r>
              <a:rPr lang="en-US" altLang="zh-TW" dirty="0"/>
              <a:t>(Dendrite)</a:t>
            </a:r>
            <a:r>
              <a:rPr lang="zh-TW" altLang="en-US" dirty="0"/>
              <a:t>：接收訊號</a:t>
            </a:r>
            <a:endParaRPr lang="en-US" altLang="zh-TW" dirty="0"/>
          </a:p>
          <a:p>
            <a:pPr lvl="1"/>
            <a:r>
              <a:rPr lang="zh-TW" altLang="en-US" dirty="0"/>
              <a:t>突觸 </a:t>
            </a:r>
            <a:r>
              <a:rPr lang="en-US" altLang="zh-TW" dirty="0"/>
              <a:t>(Synapse)</a:t>
            </a:r>
            <a:r>
              <a:rPr lang="zh-TW" altLang="en-US" dirty="0"/>
              <a:t> ：</a:t>
            </a:r>
            <a:r>
              <a:rPr lang="zh-TW" altLang="en-US" dirty="0">
                <a:solidFill>
                  <a:srgbClr val="1F1F1F"/>
                </a:solidFill>
                <a:latin typeface="Google Sans Text"/>
              </a:rPr>
              <a:t>決定訊號傳遞強弱程度</a:t>
            </a:r>
          </a:p>
          <a:p>
            <a:pPr lvl="1"/>
            <a:r>
              <a:rPr lang="zh-TW" altLang="en-US" dirty="0"/>
              <a:t>細胞體</a:t>
            </a:r>
            <a:r>
              <a:rPr lang="en-US" altLang="zh-TW" dirty="0"/>
              <a:t>(Soma)</a:t>
            </a:r>
            <a:r>
              <a:rPr lang="zh-TW" altLang="en-US" dirty="0"/>
              <a:t>：整合訊號</a:t>
            </a:r>
          </a:p>
          <a:p>
            <a:pPr lvl="1"/>
            <a:r>
              <a:rPr lang="zh-TW" altLang="en-US" dirty="0"/>
              <a:t>軸突</a:t>
            </a:r>
            <a:r>
              <a:rPr lang="en-US" altLang="zh-TW" dirty="0"/>
              <a:t>(Axon)</a:t>
            </a:r>
            <a:r>
              <a:rPr lang="zh-TW" altLang="en-US" dirty="0"/>
              <a:t>：輸出訊號</a:t>
            </a:r>
          </a:p>
          <a:p>
            <a:endParaRPr lang="en-US" altLang="zh-TW" sz="1000" b="1" dirty="0"/>
          </a:p>
          <a:p>
            <a:endParaRPr lang="en-US" altLang="zh-TW" sz="1000" b="1" dirty="0"/>
          </a:p>
          <a:p>
            <a:r>
              <a:rPr lang="fr-FR" altLang="zh-TW" b="1" dirty="0"/>
              <a:t>Artificial Neurons </a:t>
            </a:r>
            <a:r>
              <a:rPr lang="fr-FR" altLang="zh-TW" sz="1600" b="1" dirty="0"/>
              <a:t>(</a:t>
            </a:r>
            <a:r>
              <a:rPr lang="zh-TW" altLang="en-US" sz="1600" b="1" dirty="0"/>
              <a:t>人工神經元</a:t>
            </a:r>
            <a:r>
              <a:rPr lang="en-US" altLang="zh-TW" sz="1600" b="1" dirty="0"/>
              <a:t>)</a:t>
            </a:r>
            <a:endParaRPr lang="zh-TW" altLang="en-US" sz="1600" b="1" dirty="0"/>
          </a:p>
          <a:p>
            <a:pPr lvl="1"/>
            <a:r>
              <a:rPr lang="zh-TW" altLang="en-US" dirty="0"/>
              <a:t>輸入</a:t>
            </a:r>
            <a:r>
              <a:rPr lang="en-US" altLang="zh-TW" dirty="0"/>
              <a:t>(inputs)</a:t>
            </a:r>
            <a:endParaRPr lang="zh-TW" altLang="en-US" dirty="0"/>
          </a:p>
          <a:p>
            <a:pPr lvl="1"/>
            <a:r>
              <a:rPr lang="zh-TW" altLang="en-US" dirty="0"/>
              <a:t>權重</a:t>
            </a:r>
            <a:r>
              <a:rPr lang="en-US" altLang="zh-TW" dirty="0"/>
              <a:t>(weights)</a:t>
            </a:r>
            <a:endParaRPr lang="zh-TW" altLang="en-US" dirty="0"/>
          </a:p>
          <a:p>
            <a:pPr lvl="1"/>
            <a:r>
              <a:rPr lang="zh-TW" altLang="en-US" dirty="0"/>
              <a:t>加權總和 </a:t>
            </a:r>
            <a:r>
              <a:rPr lang="en-US" altLang="zh-TW" dirty="0"/>
              <a:t>+ </a:t>
            </a:r>
            <a:r>
              <a:rPr lang="zh-TW" altLang="en-US" dirty="0"/>
              <a:t>偏置</a:t>
            </a:r>
            <a:r>
              <a:rPr lang="en-US" altLang="zh-TW" dirty="0"/>
              <a:t>(bias)</a:t>
            </a:r>
            <a:endParaRPr lang="zh-TW" altLang="en-US" dirty="0"/>
          </a:p>
          <a:p>
            <a:pPr lvl="1"/>
            <a:r>
              <a:rPr lang="zh-TW" altLang="en-US" dirty="0"/>
              <a:t>活化函數</a:t>
            </a:r>
            <a:r>
              <a:rPr lang="en-US" altLang="zh-TW" dirty="0"/>
              <a:t>(activation function)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6677F6-7953-3FE7-EABA-E2E543B3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圖表 的圖片&#10;&#10;AI 產生的內容可能不正確。">
            <a:extLst>
              <a:ext uri="{FF2B5EF4-FFF2-40B4-BE49-F238E27FC236}">
                <a16:creationId xmlns:a16="http://schemas.microsoft.com/office/drawing/2014/main" id="{9CD3EF14-1D4D-1A58-0A34-79D5C611F7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26"/>
          <a:stretch>
            <a:fillRect/>
          </a:stretch>
        </p:blipFill>
        <p:spPr>
          <a:xfrm>
            <a:off x="6996894" y="1340768"/>
            <a:ext cx="3870626" cy="2412000"/>
          </a:xfrm>
          <a:prstGeom prst="rect">
            <a:avLst/>
          </a:prstGeom>
        </p:spPr>
      </p:pic>
      <p:pic>
        <p:nvPicPr>
          <p:cNvPr id="8" name="圖片 7" descr="一張含有 文字, 行, 圖表, 字型 的圖片&#10;&#10;AI 產生的內容可能不正確。">
            <a:extLst>
              <a:ext uri="{FF2B5EF4-FFF2-40B4-BE49-F238E27FC236}">
                <a16:creationId xmlns:a16="http://schemas.microsoft.com/office/drawing/2014/main" id="{7CFCE95C-A40F-9185-9A9D-2EE250CD7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20" y="3933056"/>
            <a:ext cx="3386684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6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477DC6-49AD-A398-ACDA-65AC7822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Mathematical Model of Artificial Neurons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300DBBD-CE81-769F-103C-C40BF69EB2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ts val="3360"/>
                  </a:lnSpc>
                </a:pPr>
                <a:endParaRPr lang="en-US" altLang="zh-TW" i="1" dirty="0">
                  <a:latin typeface="+mj-lt"/>
                </a:endParaRPr>
              </a:p>
              <a:p>
                <a:pPr>
                  <a:lnSpc>
                    <a:spcPts val="3360"/>
                  </a:lnSpc>
                </a:pPr>
                <a14:m>
                  <m:oMath xmlns:m="http://schemas.openxmlformats.org/officeDocument/2006/math">
                    <m:r>
                      <a:rPr lang="zh-TW" altLang="ar-AE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ar-AE" altLang="zh-TW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altLang="zh-TW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TW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TW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ias</m:t>
                    </m:r>
                  </m:oMath>
                </a14:m>
                <a:endParaRPr lang="en-US" altLang="zh-TW" b="0" i="0" dirty="0">
                  <a:latin typeface="+mj-lt"/>
                </a:endParaRPr>
              </a:p>
              <a:p>
                <a:pPr>
                  <a:lnSpc>
                    <a:spcPts val="3360"/>
                  </a:lnSpc>
                </a:pPr>
                <a:r>
                  <a:rPr lang="en-US" altLang="zh-TW" dirty="0"/>
                  <a:t>y </a:t>
                </a:r>
                <a14:m>
                  <m:oMath xmlns:m="http://schemas.openxmlformats.org/officeDocument/2006/math">
                    <m:r>
                      <a:rPr lang="ar-AE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ar-AE" altLang="zh-TW" dirty="0">
                  <a:latin typeface="+mj-lt"/>
                </a:endParaRPr>
              </a:p>
              <a:p>
                <a:pPr lvl="1">
                  <a:lnSpc>
                    <a:spcPts val="336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ar-AE" dirty="0">
                    <a:latin typeface="+mj-lt"/>
                  </a:rPr>
                  <a:t>：</a:t>
                </a:r>
                <a:r>
                  <a:rPr lang="zh-TW" altLang="en-US" dirty="0">
                    <a:latin typeface="+mj-lt"/>
                  </a:rPr>
                  <a:t>輸入特徵</a:t>
                </a:r>
              </a:p>
              <a:p>
                <a:pPr lvl="1">
                  <a:lnSpc>
                    <a:spcPts val="336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ar-AE" dirty="0">
                    <a:latin typeface="+mj-lt"/>
                  </a:rPr>
                  <a:t>：</a:t>
                </a:r>
                <a:r>
                  <a:rPr lang="zh-TW" altLang="en-US" dirty="0">
                    <a:latin typeface="+mj-lt"/>
                  </a:rPr>
                  <a:t>權重</a:t>
                </a:r>
              </a:p>
              <a:p>
                <a:pPr lvl="1">
                  <a:lnSpc>
                    <a:spcPts val="3360"/>
                  </a:lnSpc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TW" altLang="en-US" dirty="0">
                    <a:latin typeface="+mj-lt"/>
                  </a:rPr>
                  <a:t>：偏置</a:t>
                </a:r>
              </a:p>
              <a:p>
                <a:pPr lvl="1">
                  <a:lnSpc>
                    <a:spcPts val="3360"/>
                  </a:lnSpc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TW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TW" altLang="ar-AE" dirty="0">
                    <a:latin typeface="+mj-lt"/>
                  </a:rPr>
                  <a:t>：</a:t>
                </a:r>
                <a:r>
                  <a:rPr lang="zh-TW" altLang="en-US" dirty="0">
                    <a:latin typeface="+mj-lt"/>
                  </a:rPr>
                  <a:t>活化函數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300DBBD-CE81-769F-103C-C40BF69EB2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8830EF-C3F0-096C-2D4D-DF9BFCFE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5" name="圖片 4" descr="一張含有 文字, 行, 圖表, 字型 的圖片&#10;&#10;AI 產生的內容可能不正確。">
            <a:extLst>
              <a:ext uri="{FF2B5EF4-FFF2-40B4-BE49-F238E27FC236}">
                <a16:creationId xmlns:a16="http://schemas.microsoft.com/office/drawing/2014/main" id="{2A7249DE-6575-2A6E-15DC-26621DAA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339" y="1772816"/>
            <a:ext cx="5675189" cy="392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41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4832D8-BA6D-B9CE-1EE2-FCF95FAC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Mathematical Model of Artificial Neurons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82B463-D418-79B8-DA33-09E50291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altLang="zh-TW">
              <a:solidFill>
                <a:srgbClr val="000000"/>
              </a:solidFill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C143D9C1-11A1-D6DE-0D06-A442F8557C98}"/>
              </a:ext>
            </a:extLst>
          </p:cNvPr>
          <p:cNvGrpSpPr/>
          <p:nvPr/>
        </p:nvGrpSpPr>
        <p:grpSpPr>
          <a:xfrm>
            <a:off x="6652537" y="1859031"/>
            <a:ext cx="5132095" cy="3739384"/>
            <a:chOff x="6652537" y="1859031"/>
            <a:chExt cx="5132095" cy="3739384"/>
          </a:xfrm>
        </p:grpSpPr>
        <p:grpSp>
          <p:nvGrpSpPr>
            <p:cNvPr id="5" name="object 2">
              <a:extLst>
                <a:ext uri="{FF2B5EF4-FFF2-40B4-BE49-F238E27FC236}">
                  <a16:creationId xmlns:a16="http://schemas.microsoft.com/office/drawing/2014/main" id="{9226267A-340A-6E59-6A42-08B04A70A0EB}"/>
                </a:ext>
              </a:extLst>
            </p:cNvPr>
            <p:cNvGrpSpPr/>
            <p:nvPr/>
          </p:nvGrpSpPr>
          <p:grpSpPr>
            <a:xfrm>
              <a:off x="6652537" y="1940308"/>
              <a:ext cx="4785106" cy="2807335"/>
              <a:chOff x="1917192" y="2250948"/>
              <a:chExt cx="4785106" cy="2807335"/>
            </a:xfrm>
          </p:grpSpPr>
          <p:sp>
            <p:nvSpPr>
              <p:cNvPr id="29" name="object 3">
                <a:extLst>
                  <a:ext uri="{FF2B5EF4-FFF2-40B4-BE49-F238E27FC236}">
                    <a16:creationId xmlns:a16="http://schemas.microsoft.com/office/drawing/2014/main" id="{6D8113A5-2B63-4FFE-AACF-ACBD297269B8}"/>
                  </a:ext>
                </a:extLst>
              </p:cNvPr>
              <p:cNvSpPr/>
              <p:nvPr/>
            </p:nvSpPr>
            <p:spPr>
              <a:xfrm>
                <a:off x="5897118" y="3787140"/>
                <a:ext cx="805180" cy="78105"/>
              </a:xfrm>
              <a:custGeom>
                <a:avLst/>
                <a:gdLst/>
                <a:ahLst/>
                <a:cxnLst/>
                <a:rect l="l" t="t" r="r" b="b"/>
                <a:pathLst>
                  <a:path w="805179" h="78104">
                    <a:moveTo>
                      <a:pt x="726948" y="0"/>
                    </a:moveTo>
                    <a:lnTo>
                      <a:pt x="726948" y="77724"/>
                    </a:lnTo>
                    <a:lnTo>
                      <a:pt x="778764" y="51816"/>
                    </a:lnTo>
                    <a:lnTo>
                      <a:pt x="739902" y="51816"/>
                    </a:lnTo>
                    <a:lnTo>
                      <a:pt x="739902" y="25908"/>
                    </a:lnTo>
                    <a:lnTo>
                      <a:pt x="778764" y="25908"/>
                    </a:lnTo>
                    <a:lnTo>
                      <a:pt x="726948" y="0"/>
                    </a:lnTo>
                    <a:close/>
                  </a:path>
                  <a:path w="805179" h="78104">
                    <a:moveTo>
                      <a:pt x="726948" y="25908"/>
                    </a:moveTo>
                    <a:lnTo>
                      <a:pt x="0" y="25908"/>
                    </a:lnTo>
                    <a:lnTo>
                      <a:pt x="0" y="51816"/>
                    </a:lnTo>
                    <a:lnTo>
                      <a:pt x="726948" y="51816"/>
                    </a:lnTo>
                    <a:lnTo>
                      <a:pt x="726948" y="25908"/>
                    </a:lnTo>
                    <a:close/>
                  </a:path>
                  <a:path w="805179" h="78104">
                    <a:moveTo>
                      <a:pt x="778764" y="25908"/>
                    </a:moveTo>
                    <a:lnTo>
                      <a:pt x="739902" y="25908"/>
                    </a:lnTo>
                    <a:lnTo>
                      <a:pt x="739902" y="51816"/>
                    </a:lnTo>
                    <a:lnTo>
                      <a:pt x="778764" y="51816"/>
                    </a:lnTo>
                    <a:lnTo>
                      <a:pt x="804672" y="38862"/>
                    </a:lnTo>
                    <a:lnTo>
                      <a:pt x="778764" y="2590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pic>
            <p:nvPicPr>
              <p:cNvPr id="30" name="object 4">
                <a:extLst>
                  <a:ext uri="{FF2B5EF4-FFF2-40B4-BE49-F238E27FC236}">
                    <a16:creationId xmlns:a16="http://schemas.microsoft.com/office/drawing/2014/main" id="{2C49F9B2-29AE-F18F-DB2A-C7A784393D5B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17192" y="2250948"/>
                <a:ext cx="595883" cy="2807208"/>
              </a:xfrm>
              <a:prstGeom prst="rect">
                <a:avLst/>
              </a:prstGeom>
            </p:spPr>
          </p:pic>
          <p:sp>
            <p:nvSpPr>
              <p:cNvPr id="31" name="object 5">
                <a:extLst>
                  <a:ext uri="{FF2B5EF4-FFF2-40B4-BE49-F238E27FC236}">
                    <a16:creationId xmlns:a16="http://schemas.microsoft.com/office/drawing/2014/main" id="{CD695296-7D91-197E-FC11-F5EEC72D1E57}"/>
                  </a:ext>
                </a:extLst>
              </p:cNvPr>
              <p:cNvSpPr/>
              <p:nvPr/>
            </p:nvSpPr>
            <p:spPr>
              <a:xfrm>
                <a:off x="1917192" y="2250948"/>
                <a:ext cx="596265" cy="2807335"/>
              </a:xfrm>
              <a:custGeom>
                <a:avLst/>
                <a:gdLst/>
                <a:ahLst/>
                <a:cxnLst/>
                <a:rect l="l" t="t" r="r" b="b"/>
                <a:pathLst>
                  <a:path w="596264" h="2807335">
                    <a:moveTo>
                      <a:pt x="0" y="2807208"/>
                    </a:moveTo>
                    <a:lnTo>
                      <a:pt x="595883" y="2807208"/>
                    </a:lnTo>
                    <a:lnTo>
                      <a:pt x="595883" y="0"/>
                    </a:lnTo>
                    <a:lnTo>
                      <a:pt x="0" y="0"/>
                    </a:lnTo>
                    <a:lnTo>
                      <a:pt x="0" y="2807208"/>
                    </a:lnTo>
                    <a:close/>
                  </a:path>
                </a:pathLst>
              </a:custGeom>
              <a:ln w="6095">
                <a:solidFill>
                  <a:srgbClr val="EC7C3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32" name="object 6">
                <a:extLst>
                  <a:ext uri="{FF2B5EF4-FFF2-40B4-BE49-F238E27FC236}">
                    <a16:creationId xmlns:a16="http://schemas.microsoft.com/office/drawing/2014/main" id="{52FABB50-D1FF-971E-6927-B8AC708BBFCC}"/>
                  </a:ext>
                </a:extLst>
              </p:cNvPr>
              <p:cNvSpPr/>
              <p:nvPr/>
            </p:nvSpPr>
            <p:spPr>
              <a:xfrm>
                <a:off x="2536571" y="3835146"/>
                <a:ext cx="1496695" cy="818515"/>
              </a:xfrm>
              <a:custGeom>
                <a:avLst/>
                <a:gdLst/>
                <a:ahLst/>
                <a:cxnLst/>
                <a:rect l="l" t="t" r="r" b="b"/>
                <a:pathLst>
                  <a:path w="1496695" h="818514">
                    <a:moveTo>
                      <a:pt x="1422039" y="25608"/>
                    </a:moveTo>
                    <a:lnTo>
                      <a:pt x="0" y="795527"/>
                    </a:lnTo>
                    <a:lnTo>
                      <a:pt x="12446" y="818387"/>
                    </a:lnTo>
                    <a:lnTo>
                      <a:pt x="1434394" y="48449"/>
                    </a:lnTo>
                    <a:lnTo>
                      <a:pt x="1422039" y="25608"/>
                    </a:lnTo>
                    <a:close/>
                  </a:path>
                  <a:path w="1496695" h="818514">
                    <a:moveTo>
                      <a:pt x="1482931" y="19430"/>
                    </a:moveTo>
                    <a:lnTo>
                      <a:pt x="1433449" y="19430"/>
                    </a:lnTo>
                    <a:lnTo>
                      <a:pt x="1445768" y="42290"/>
                    </a:lnTo>
                    <a:lnTo>
                      <a:pt x="1434394" y="48449"/>
                    </a:lnTo>
                    <a:lnTo>
                      <a:pt x="1446657" y="71119"/>
                    </a:lnTo>
                    <a:lnTo>
                      <a:pt x="1482931" y="19430"/>
                    </a:lnTo>
                    <a:close/>
                  </a:path>
                  <a:path w="1496695" h="818514">
                    <a:moveTo>
                      <a:pt x="1433449" y="19430"/>
                    </a:moveTo>
                    <a:lnTo>
                      <a:pt x="1422039" y="25608"/>
                    </a:lnTo>
                    <a:lnTo>
                      <a:pt x="1434394" y="48449"/>
                    </a:lnTo>
                    <a:lnTo>
                      <a:pt x="1445768" y="42290"/>
                    </a:lnTo>
                    <a:lnTo>
                      <a:pt x="1433449" y="19430"/>
                    </a:lnTo>
                    <a:close/>
                  </a:path>
                  <a:path w="1496695" h="818514">
                    <a:moveTo>
                      <a:pt x="1496568" y="0"/>
                    </a:moveTo>
                    <a:lnTo>
                      <a:pt x="1409700" y="2793"/>
                    </a:lnTo>
                    <a:lnTo>
                      <a:pt x="1422039" y="25608"/>
                    </a:lnTo>
                    <a:lnTo>
                      <a:pt x="1433449" y="19430"/>
                    </a:lnTo>
                    <a:lnTo>
                      <a:pt x="1482931" y="19430"/>
                    </a:lnTo>
                    <a:lnTo>
                      <a:pt x="149656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pic>
            <p:nvPicPr>
              <p:cNvPr id="33" name="object 7">
                <a:extLst>
                  <a:ext uri="{FF2B5EF4-FFF2-40B4-BE49-F238E27FC236}">
                    <a16:creationId xmlns:a16="http://schemas.microsoft.com/office/drawing/2014/main" id="{DAD53DBB-9D46-EEEA-346F-369B9F8222F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186172" y="3326892"/>
                <a:ext cx="941831" cy="940308"/>
              </a:xfrm>
              <a:prstGeom prst="rect">
                <a:avLst/>
              </a:prstGeom>
            </p:spPr>
          </p:pic>
          <p:sp>
            <p:nvSpPr>
              <p:cNvPr id="34" name="object 8">
                <a:extLst>
                  <a:ext uri="{FF2B5EF4-FFF2-40B4-BE49-F238E27FC236}">
                    <a16:creationId xmlns:a16="http://schemas.microsoft.com/office/drawing/2014/main" id="{F44F905D-9254-7E9B-CBB3-E690A81D77F3}"/>
                  </a:ext>
                </a:extLst>
              </p:cNvPr>
              <p:cNvSpPr/>
              <p:nvPr/>
            </p:nvSpPr>
            <p:spPr>
              <a:xfrm>
                <a:off x="5186172" y="3326892"/>
                <a:ext cx="942340" cy="940435"/>
              </a:xfrm>
              <a:custGeom>
                <a:avLst/>
                <a:gdLst/>
                <a:ahLst/>
                <a:cxnLst/>
                <a:rect l="l" t="t" r="r" b="b"/>
                <a:pathLst>
                  <a:path w="942339" h="940435">
                    <a:moveTo>
                      <a:pt x="0" y="470154"/>
                    </a:moveTo>
                    <a:lnTo>
                      <a:pt x="2431" y="422074"/>
                    </a:lnTo>
                    <a:lnTo>
                      <a:pt x="9566" y="375385"/>
                    </a:lnTo>
                    <a:lnTo>
                      <a:pt x="21170" y="330323"/>
                    </a:lnTo>
                    <a:lnTo>
                      <a:pt x="37004" y="287125"/>
                    </a:lnTo>
                    <a:lnTo>
                      <a:pt x="56833" y="246025"/>
                    </a:lnTo>
                    <a:lnTo>
                      <a:pt x="80420" y="207261"/>
                    </a:lnTo>
                    <a:lnTo>
                      <a:pt x="107529" y="171069"/>
                    </a:lnTo>
                    <a:lnTo>
                      <a:pt x="137922" y="137683"/>
                    </a:lnTo>
                    <a:lnTo>
                      <a:pt x="171362" y="107342"/>
                    </a:lnTo>
                    <a:lnTo>
                      <a:pt x="207615" y="80280"/>
                    </a:lnTo>
                    <a:lnTo>
                      <a:pt x="246442" y="56733"/>
                    </a:lnTo>
                    <a:lnTo>
                      <a:pt x="287607" y="36939"/>
                    </a:lnTo>
                    <a:lnTo>
                      <a:pt x="330873" y="21132"/>
                    </a:lnTo>
                    <a:lnTo>
                      <a:pt x="376005" y="9549"/>
                    </a:lnTo>
                    <a:lnTo>
                      <a:pt x="422764" y="2426"/>
                    </a:lnTo>
                    <a:lnTo>
                      <a:pt x="470915" y="0"/>
                    </a:lnTo>
                    <a:lnTo>
                      <a:pt x="519067" y="2426"/>
                    </a:lnTo>
                    <a:lnTo>
                      <a:pt x="565826" y="9549"/>
                    </a:lnTo>
                    <a:lnTo>
                      <a:pt x="610958" y="21132"/>
                    </a:lnTo>
                    <a:lnTo>
                      <a:pt x="654224" y="36939"/>
                    </a:lnTo>
                    <a:lnTo>
                      <a:pt x="695389" y="56733"/>
                    </a:lnTo>
                    <a:lnTo>
                      <a:pt x="734216" y="80280"/>
                    </a:lnTo>
                    <a:lnTo>
                      <a:pt x="770469" y="107342"/>
                    </a:lnTo>
                    <a:lnTo>
                      <a:pt x="803910" y="137683"/>
                    </a:lnTo>
                    <a:lnTo>
                      <a:pt x="834302" y="171069"/>
                    </a:lnTo>
                    <a:lnTo>
                      <a:pt x="861411" y="207261"/>
                    </a:lnTo>
                    <a:lnTo>
                      <a:pt x="884998" y="246025"/>
                    </a:lnTo>
                    <a:lnTo>
                      <a:pt x="904827" y="287125"/>
                    </a:lnTo>
                    <a:lnTo>
                      <a:pt x="920661" y="330323"/>
                    </a:lnTo>
                    <a:lnTo>
                      <a:pt x="932265" y="375385"/>
                    </a:lnTo>
                    <a:lnTo>
                      <a:pt x="939400" y="422074"/>
                    </a:lnTo>
                    <a:lnTo>
                      <a:pt x="941831" y="470154"/>
                    </a:lnTo>
                    <a:lnTo>
                      <a:pt x="939400" y="518233"/>
                    </a:lnTo>
                    <a:lnTo>
                      <a:pt x="932265" y="564922"/>
                    </a:lnTo>
                    <a:lnTo>
                      <a:pt x="920661" y="609984"/>
                    </a:lnTo>
                    <a:lnTo>
                      <a:pt x="904827" y="653182"/>
                    </a:lnTo>
                    <a:lnTo>
                      <a:pt x="884998" y="694282"/>
                    </a:lnTo>
                    <a:lnTo>
                      <a:pt x="861411" y="733046"/>
                    </a:lnTo>
                    <a:lnTo>
                      <a:pt x="834302" y="769238"/>
                    </a:lnTo>
                    <a:lnTo>
                      <a:pt x="803909" y="802624"/>
                    </a:lnTo>
                    <a:lnTo>
                      <a:pt x="770469" y="832965"/>
                    </a:lnTo>
                    <a:lnTo>
                      <a:pt x="734216" y="860027"/>
                    </a:lnTo>
                    <a:lnTo>
                      <a:pt x="695389" y="883574"/>
                    </a:lnTo>
                    <a:lnTo>
                      <a:pt x="654224" y="903368"/>
                    </a:lnTo>
                    <a:lnTo>
                      <a:pt x="610958" y="919175"/>
                    </a:lnTo>
                    <a:lnTo>
                      <a:pt x="565826" y="930758"/>
                    </a:lnTo>
                    <a:lnTo>
                      <a:pt x="519067" y="937881"/>
                    </a:lnTo>
                    <a:lnTo>
                      <a:pt x="470915" y="940308"/>
                    </a:lnTo>
                    <a:lnTo>
                      <a:pt x="422764" y="937881"/>
                    </a:lnTo>
                    <a:lnTo>
                      <a:pt x="376005" y="930758"/>
                    </a:lnTo>
                    <a:lnTo>
                      <a:pt x="330873" y="919175"/>
                    </a:lnTo>
                    <a:lnTo>
                      <a:pt x="287607" y="903368"/>
                    </a:lnTo>
                    <a:lnTo>
                      <a:pt x="246442" y="883574"/>
                    </a:lnTo>
                    <a:lnTo>
                      <a:pt x="207615" y="860027"/>
                    </a:lnTo>
                    <a:lnTo>
                      <a:pt x="171362" y="832965"/>
                    </a:lnTo>
                    <a:lnTo>
                      <a:pt x="137921" y="802624"/>
                    </a:lnTo>
                    <a:lnTo>
                      <a:pt x="107529" y="769238"/>
                    </a:lnTo>
                    <a:lnTo>
                      <a:pt x="80420" y="733046"/>
                    </a:lnTo>
                    <a:lnTo>
                      <a:pt x="56833" y="694282"/>
                    </a:lnTo>
                    <a:lnTo>
                      <a:pt x="37004" y="653182"/>
                    </a:lnTo>
                    <a:lnTo>
                      <a:pt x="21170" y="609984"/>
                    </a:lnTo>
                    <a:lnTo>
                      <a:pt x="9566" y="564922"/>
                    </a:lnTo>
                    <a:lnTo>
                      <a:pt x="2431" y="518233"/>
                    </a:lnTo>
                    <a:lnTo>
                      <a:pt x="0" y="470154"/>
                    </a:lnTo>
                    <a:close/>
                  </a:path>
                </a:pathLst>
              </a:custGeom>
              <a:ln w="6096">
                <a:solidFill>
                  <a:srgbClr val="5B9BD4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</p:grpSp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4F20FBA8-4A2F-5DC9-6575-B15E655E6451}"/>
                </a:ext>
              </a:extLst>
            </p:cNvPr>
            <p:cNvSpPr txBox="1"/>
            <p:nvPr/>
          </p:nvSpPr>
          <p:spPr>
            <a:xfrm>
              <a:off x="9521413" y="2974802"/>
              <a:ext cx="189865" cy="5295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>
              <a:defPPr>
                <a:defRPr kern="0"/>
              </a:defPPr>
            </a:lstStyle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3300" i="1" spc="-50" dirty="0">
                  <a:latin typeface="Times New Roman"/>
                  <a:cs typeface="Times New Roman"/>
                </a:rPr>
                <a:t>z</a:t>
              </a:r>
              <a:endParaRPr sz="3300">
                <a:latin typeface="Times New Roman"/>
                <a:cs typeface="Times New Roman"/>
              </a:endParaRPr>
            </a:p>
          </p:txBody>
        </p:sp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AFF47D1E-E240-978F-9866-E124448C24D3}"/>
                </a:ext>
              </a:extLst>
            </p:cNvPr>
            <p:cNvSpPr txBox="1"/>
            <p:nvPr/>
          </p:nvSpPr>
          <p:spPr>
            <a:xfrm>
              <a:off x="7306743" y="1859031"/>
              <a:ext cx="442595" cy="5295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>
              <a:defPPr>
                <a:defRPr kern="0"/>
              </a:defPPr>
            </a:lstStyle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3300" i="1" spc="-25" dirty="0">
                  <a:latin typeface="Times New Roman"/>
                  <a:cs typeface="Times New Roman"/>
                </a:rPr>
                <a:t>w</a:t>
              </a:r>
              <a:r>
                <a:rPr sz="2850" spc="-37" baseline="-24853" dirty="0">
                  <a:latin typeface="Times New Roman"/>
                  <a:cs typeface="Times New Roman"/>
                </a:rPr>
                <a:t>1</a:t>
              </a:r>
              <a:endParaRPr sz="2850" baseline="-24853">
                <a:latin typeface="Times New Roman"/>
                <a:cs typeface="Times New Roman"/>
              </a:endParaRPr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903F7A59-9E38-DD8B-9F70-46F38953EF83}"/>
                </a:ext>
              </a:extLst>
            </p:cNvPr>
            <p:cNvSpPr txBox="1"/>
            <p:nvPr/>
          </p:nvSpPr>
          <p:spPr>
            <a:xfrm>
              <a:off x="7617564" y="2982461"/>
              <a:ext cx="149225" cy="320675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defPPr>
                <a:defRPr kern="0"/>
              </a:defPPr>
            </a:lstStyle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900" spc="-50" dirty="0">
                  <a:latin typeface="Times New Roman"/>
                  <a:cs typeface="Times New Roman"/>
                </a:rPr>
                <a:t>2</a:t>
              </a:r>
              <a:endParaRPr sz="1900">
                <a:latin typeface="Times New Roman"/>
                <a:cs typeface="Times New Roman"/>
              </a:endParaRPr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188F62EF-8B34-32A1-CB29-9B3EA050B83A}"/>
                </a:ext>
              </a:extLst>
            </p:cNvPr>
            <p:cNvSpPr txBox="1"/>
            <p:nvPr/>
          </p:nvSpPr>
          <p:spPr>
            <a:xfrm>
              <a:off x="7347439" y="2701799"/>
              <a:ext cx="307975" cy="530860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>
              <a:defPPr>
                <a:defRPr kern="0"/>
              </a:defPPr>
            </a:lstStyle>
            <a:p>
              <a:pPr marL="12700">
                <a:lnSpc>
                  <a:spcPct val="100000"/>
                </a:lnSpc>
                <a:spcBef>
                  <a:spcPts val="115"/>
                </a:spcBef>
              </a:pPr>
              <a:r>
                <a:rPr sz="3300" i="1" spc="-50" dirty="0">
                  <a:latin typeface="Times New Roman"/>
                  <a:cs typeface="Times New Roman"/>
                </a:rPr>
                <a:t>w</a:t>
              </a:r>
              <a:endParaRPr sz="3300">
                <a:latin typeface="Times New Roman"/>
                <a:cs typeface="Times New Roman"/>
              </a:endParaRPr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1C9C8098-3378-0E95-59C7-50B4FF9C48CF}"/>
                </a:ext>
              </a:extLst>
            </p:cNvPr>
            <p:cNvSpPr txBox="1"/>
            <p:nvPr/>
          </p:nvSpPr>
          <p:spPr>
            <a:xfrm>
              <a:off x="7334191" y="3501900"/>
              <a:ext cx="530860" cy="52895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>
              <a:defPPr>
                <a:defRPr kern="0"/>
              </a:defPPr>
            </a:lstStyle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3300" i="1" spc="-25" dirty="0">
                  <a:latin typeface="Times New Roman"/>
                  <a:cs typeface="Times New Roman"/>
                </a:rPr>
                <a:t>w</a:t>
              </a:r>
              <a:r>
                <a:rPr sz="2850" spc="-37" baseline="-24853" dirty="0">
                  <a:latin typeface="Times New Roman"/>
                  <a:cs typeface="Times New Roman"/>
                </a:rPr>
                <a:t>N</a:t>
              </a:r>
              <a:endParaRPr sz="2850" baseline="-24853">
                <a:latin typeface="Times New Roman"/>
                <a:cs typeface="Times New Roman"/>
              </a:endParaRPr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8DD89DD9-5D00-1DC8-CCE4-F232F3C0331C}"/>
                </a:ext>
              </a:extLst>
            </p:cNvPr>
            <p:cNvSpPr/>
            <p:nvPr/>
          </p:nvSpPr>
          <p:spPr>
            <a:xfrm>
              <a:off x="7235721" y="2280159"/>
              <a:ext cx="2679065" cy="1266190"/>
            </a:xfrm>
            <a:custGeom>
              <a:avLst/>
              <a:gdLst/>
              <a:ahLst/>
              <a:cxnLst/>
              <a:rect l="l" t="t" r="r" b="b"/>
              <a:pathLst>
                <a:path w="2679065" h="1266189">
                  <a:moveTo>
                    <a:pt x="1532636" y="1244854"/>
                  </a:moveTo>
                  <a:lnTo>
                    <a:pt x="1531531" y="1243965"/>
                  </a:lnTo>
                  <a:lnTo>
                    <a:pt x="1518056" y="1213358"/>
                  </a:lnTo>
                  <a:lnTo>
                    <a:pt x="1496822" y="1165098"/>
                  </a:lnTo>
                  <a:lnTo>
                    <a:pt x="1480261" y="1185049"/>
                  </a:lnTo>
                  <a:lnTo>
                    <a:pt x="53721" y="0"/>
                  </a:lnTo>
                  <a:lnTo>
                    <a:pt x="37211" y="19812"/>
                  </a:lnTo>
                  <a:lnTo>
                    <a:pt x="1462087" y="1203718"/>
                  </a:lnTo>
                  <a:lnTo>
                    <a:pt x="1461096" y="1208138"/>
                  </a:lnTo>
                  <a:lnTo>
                    <a:pt x="1455877" y="1214412"/>
                  </a:lnTo>
                  <a:lnTo>
                    <a:pt x="5588" y="888746"/>
                  </a:lnTo>
                  <a:lnTo>
                    <a:pt x="0" y="914146"/>
                  </a:lnTo>
                  <a:lnTo>
                    <a:pt x="1453857" y="1240472"/>
                  </a:lnTo>
                  <a:lnTo>
                    <a:pt x="1448181" y="1265809"/>
                  </a:lnTo>
                  <a:lnTo>
                    <a:pt x="1532636" y="1244854"/>
                  </a:lnTo>
                  <a:close/>
                </a:path>
                <a:path w="2679065" h="1266189">
                  <a:moveTo>
                    <a:pt x="2678938" y="1213866"/>
                  </a:moveTo>
                  <a:lnTo>
                    <a:pt x="2653030" y="1200912"/>
                  </a:lnTo>
                  <a:lnTo>
                    <a:pt x="2601214" y="1175004"/>
                  </a:lnTo>
                  <a:lnTo>
                    <a:pt x="2601214" y="1200912"/>
                  </a:lnTo>
                  <a:lnTo>
                    <a:pt x="1874266" y="1200912"/>
                  </a:lnTo>
                  <a:lnTo>
                    <a:pt x="1874266" y="1226820"/>
                  </a:lnTo>
                  <a:lnTo>
                    <a:pt x="2601214" y="1226820"/>
                  </a:lnTo>
                  <a:lnTo>
                    <a:pt x="2601214" y="1252728"/>
                  </a:lnTo>
                  <a:lnTo>
                    <a:pt x="2653030" y="1226820"/>
                  </a:lnTo>
                  <a:lnTo>
                    <a:pt x="2678938" y="12138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43D31E2B-C021-5706-171F-A4F85D6A4CCD}"/>
                </a:ext>
              </a:extLst>
            </p:cNvPr>
            <p:cNvSpPr txBox="1"/>
            <p:nvPr/>
          </p:nvSpPr>
          <p:spPr>
            <a:xfrm>
              <a:off x="6825942" y="3728087"/>
              <a:ext cx="381000" cy="271145"/>
            </a:xfrm>
            <a:prstGeom prst="rect">
              <a:avLst/>
            </a:prstGeom>
          </p:spPr>
          <p:txBody>
            <a:bodyPr vert="vert" wrap="square" lIns="0" tIns="0" rIns="0" bIns="0" rtlCol="0">
              <a:spAutoFit/>
            </a:bodyPr>
            <a:lstStyle>
              <a:defPPr>
                <a:defRPr kern="0"/>
              </a:defPPr>
            </a:lstStyle>
            <a:p>
              <a:pPr marL="12700">
                <a:lnSpc>
                  <a:spcPts val="2760"/>
                </a:lnSpc>
              </a:pPr>
              <a:r>
                <a:rPr sz="2800" spc="-50" dirty="0">
                  <a:latin typeface="Calibri"/>
                  <a:cs typeface="Calibri"/>
                </a:rPr>
                <a:t>…</a:t>
              </a:r>
              <a:endParaRPr sz="2800">
                <a:latin typeface="Calibri"/>
                <a:cs typeface="Calibri"/>
              </a:endParaRPr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99E768FD-B3CE-D37F-7EC4-D23152601F77}"/>
                </a:ext>
              </a:extLst>
            </p:cNvPr>
            <p:cNvSpPr txBox="1"/>
            <p:nvPr/>
          </p:nvSpPr>
          <p:spPr>
            <a:xfrm>
              <a:off x="6779190" y="1919999"/>
              <a:ext cx="391795" cy="143256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>
              <a:defPPr>
                <a:defRPr kern="0"/>
              </a:defPPr>
            </a:lstStyle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sz="3300" i="1" spc="-25" dirty="0">
                  <a:latin typeface="Times New Roman"/>
                  <a:cs typeface="Times New Roman"/>
                </a:rPr>
                <a:t>x</a:t>
              </a:r>
              <a:r>
                <a:rPr sz="2850" spc="-37" baseline="-24853" dirty="0">
                  <a:latin typeface="Times New Roman"/>
                  <a:cs typeface="Times New Roman"/>
                </a:rPr>
                <a:t>1</a:t>
              </a:r>
              <a:endParaRPr sz="2850" baseline="-24853">
                <a:latin typeface="Times New Roman"/>
                <a:cs typeface="Times New Roman"/>
              </a:endParaRPr>
            </a:p>
            <a:p>
              <a:pPr>
                <a:lnSpc>
                  <a:spcPct val="100000"/>
                </a:lnSpc>
                <a:spcBef>
                  <a:spcPts val="960"/>
                </a:spcBef>
              </a:pPr>
              <a:endParaRPr sz="1900">
                <a:latin typeface="Times New Roman"/>
                <a:cs typeface="Times New Roman"/>
              </a:endParaRPr>
            </a:p>
            <a:p>
              <a:pPr marL="38100">
                <a:lnSpc>
                  <a:spcPct val="100000"/>
                </a:lnSpc>
              </a:pPr>
              <a:r>
                <a:rPr sz="3300" i="1" spc="-25" dirty="0">
                  <a:latin typeface="Times New Roman"/>
                  <a:cs typeface="Times New Roman"/>
                </a:rPr>
                <a:t>x</a:t>
              </a:r>
              <a:r>
                <a:rPr sz="2850" spc="-37" baseline="-24853" dirty="0">
                  <a:latin typeface="Times New Roman"/>
                  <a:cs typeface="Times New Roman"/>
                </a:rPr>
                <a:t>2</a:t>
              </a:r>
              <a:endParaRPr sz="2850" baseline="-24853">
                <a:latin typeface="Times New Roman"/>
                <a:cs typeface="Times New Roman"/>
              </a:endParaRPr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56B5CA5D-942C-D615-ED4B-9003766FCD5E}"/>
                </a:ext>
              </a:extLst>
            </p:cNvPr>
            <p:cNvSpPr txBox="1"/>
            <p:nvPr/>
          </p:nvSpPr>
          <p:spPr>
            <a:xfrm>
              <a:off x="6753811" y="4020089"/>
              <a:ext cx="454659" cy="53022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>
              <a:defPPr>
                <a:defRPr kern="0"/>
              </a:defPPr>
            </a:lstStyle>
            <a:p>
              <a:pPr marL="38100">
                <a:lnSpc>
                  <a:spcPct val="100000"/>
                </a:lnSpc>
                <a:spcBef>
                  <a:spcPts val="110"/>
                </a:spcBef>
              </a:pPr>
              <a:r>
                <a:rPr sz="3300" i="1" spc="30" dirty="0">
                  <a:latin typeface="Times New Roman"/>
                  <a:cs typeface="Times New Roman"/>
                </a:rPr>
                <a:t>x</a:t>
              </a:r>
              <a:r>
                <a:rPr sz="2850" spc="44" baseline="-24853" dirty="0">
                  <a:latin typeface="Times New Roman"/>
                  <a:cs typeface="Times New Roman"/>
                </a:rPr>
                <a:t>N</a:t>
              </a:r>
              <a:endParaRPr sz="2850" baseline="-24853">
                <a:latin typeface="Times New Roman"/>
                <a:cs typeface="Times New Roman"/>
              </a:endParaRPr>
            </a:p>
          </p:txBody>
        </p:sp>
        <p:grpSp>
          <p:nvGrpSpPr>
            <p:cNvPr id="15" name="object 19">
              <a:extLst>
                <a:ext uri="{FF2B5EF4-FFF2-40B4-BE49-F238E27FC236}">
                  <a16:creationId xmlns:a16="http://schemas.microsoft.com/office/drawing/2014/main" id="{02A494FE-B166-D76D-52F0-79BF7D22939F}"/>
                </a:ext>
              </a:extLst>
            </p:cNvPr>
            <p:cNvGrpSpPr/>
            <p:nvPr/>
          </p:nvGrpSpPr>
          <p:grpSpPr>
            <a:xfrm>
              <a:off x="8766324" y="3264663"/>
              <a:ext cx="521334" cy="520065"/>
              <a:chOff x="4030979" y="3575303"/>
              <a:chExt cx="521334" cy="520065"/>
            </a:xfrm>
          </p:grpSpPr>
          <p:pic>
            <p:nvPicPr>
              <p:cNvPr id="27" name="object 20">
                <a:extLst>
                  <a:ext uri="{FF2B5EF4-FFF2-40B4-BE49-F238E27FC236}">
                    <a16:creationId xmlns:a16="http://schemas.microsoft.com/office/drawing/2014/main" id="{5A31BE41-CE27-C762-BD3D-080039CC71AE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030979" y="3575303"/>
                <a:ext cx="521208" cy="519684"/>
              </a:xfrm>
              <a:prstGeom prst="rect">
                <a:avLst/>
              </a:prstGeom>
            </p:spPr>
          </p:pic>
          <p:sp>
            <p:nvSpPr>
              <p:cNvPr id="28" name="object 21">
                <a:extLst>
                  <a:ext uri="{FF2B5EF4-FFF2-40B4-BE49-F238E27FC236}">
                    <a16:creationId xmlns:a16="http://schemas.microsoft.com/office/drawing/2014/main" id="{C7C8FB6D-1181-362B-AB28-411FBB7D30CA}"/>
                  </a:ext>
                </a:extLst>
              </p:cNvPr>
              <p:cNvSpPr/>
              <p:nvPr/>
            </p:nvSpPr>
            <p:spPr>
              <a:xfrm>
                <a:off x="4030979" y="3575303"/>
                <a:ext cx="521334" cy="520065"/>
              </a:xfrm>
              <a:custGeom>
                <a:avLst/>
                <a:gdLst/>
                <a:ahLst/>
                <a:cxnLst/>
                <a:rect l="l" t="t" r="r" b="b"/>
                <a:pathLst>
                  <a:path w="521335" h="520064">
                    <a:moveTo>
                      <a:pt x="0" y="519684"/>
                    </a:moveTo>
                    <a:lnTo>
                      <a:pt x="521208" y="519684"/>
                    </a:lnTo>
                    <a:lnTo>
                      <a:pt x="521208" y="0"/>
                    </a:lnTo>
                    <a:lnTo>
                      <a:pt x="0" y="0"/>
                    </a:lnTo>
                    <a:lnTo>
                      <a:pt x="0" y="519684"/>
                    </a:lnTo>
                    <a:close/>
                  </a:path>
                </a:pathLst>
              </a:custGeom>
              <a:ln w="6096">
                <a:solidFill>
                  <a:srgbClr val="A4A4A4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</p:grpSp>
        <p:sp>
          <p:nvSpPr>
            <p:cNvPr id="16" name="object 22">
              <a:extLst>
                <a:ext uri="{FF2B5EF4-FFF2-40B4-BE49-F238E27FC236}">
                  <a16:creationId xmlns:a16="http://schemas.microsoft.com/office/drawing/2014/main" id="{D5915FF6-57A2-743F-A642-B099A88F8225}"/>
                </a:ext>
              </a:extLst>
            </p:cNvPr>
            <p:cNvSpPr txBox="1"/>
            <p:nvPr/>
          </p:nvSpPr>
          <p:spPr>
            <a:xfrm>
              <a:off x="8910132" y="3184454"/>
              <a:ext cx="256540" cy="5327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>
              <a:defPPr>
                <a:defRPr kern="0"/>
              </a:defPPr>
            </a:lstStyle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3300" spc="-50" dirty="0">
                  <a:latin typeface="Symbol"/>
                  <a:cs typeface="Symbol"/>
                </a:rPr>
                <a:t></a:t>
              </a:r>
              <a:endParaRPr sz="3300">
                <a:latin typeface="Symbol"/>
                <a:cs typeface="Symbol"/>
              </a:endParaRPr>
            </a:p>
          </p:txBody>
        </p:sp>
        <p:sp>
          <p:nvSpPr>
            <p:cNvPr id="17" name="object 23">
              <a:extLst>
                <a:ext uri="{FF2B5EF4-FFF2-40B4-BE49-F238E27FC236}">
                  <a16:creationId xmlns:a16="http://schemas.microsoft.com/office/drawing/2014/main" id="{7D5F5959-8778-89EF-543C-D6DF6D77A2F4}"/>
                </a:ext>
              </a:extLst>
            </p:cNvPr>
            <p:cNvSpPr txBox="1"/>
            <p:nvPr/>
          </p:nvSpPr>
          <p:spPr>
            <a:xfrm>
              <a:off x="7659646" y="4584199"/>
              <a:ext cx="520700" cy="83185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>
              <a:defPPr>
                <a:defRPr kern="0"/>
              </a:defPPr>
            </a:lstStyle>
            <a:p>
              <a:pPr marL="127000">
                <a:lnSpc>
                  <a:spcPts val="3665"/>
                </a:lnSpc>
                <a:spcBef>
                  <a:spcPts val="140"/>
                </a:spcBef>
              </a:pPr>
              <a:r>
                <a:rPr sz="3250" i="1" spc="-50" dirty="0">
                  <a:latin typeface="Times New Roman"/>
                  <a:cs typeface="Times New Roman"/>
                </a:rPr>
                <a:t>b</a:t>
              </a:r>
              <a:endParaRPr sz="3250">
                <a:latin typeface="Times New Roman"/>
                <a:cs typeface="Times New Roman"/>
              </a:endParaRPr>
            </a:p>
            <a:p>
              <a:pPr marL="12700">
                <a:lnSpc>
                  <a:spcPts val="2645"/>
                </a:lnSpc>
              </a:pPr>
              <a:r>
                <a:rPr sz="2400" spc="-20" dirty="0">
                  <a:latin typeface="Calibri"/>
                  <a:cs typeface="Calibri"/>
                </a:rPr>
                <a:t>bias</a:t>
              </a:r>
              <a:endParaRPr sz="2400">
                <a:latin typeface="Calibri"/>
                <a:cs typeface="Calibri"/>
              </a:endParaRPr>
            </a:p>
          </p:txBody>
        </p:sp>
        <p:sp>
          <p:nvSpPr>
            <p:cNvPr id="18" name="object 27">
              <a:extLst>
                <a:ext uri="{FF2B5EF4-FFF2-40B4-BE49-F238E27FC236}">
                  <a16:creationId xmlns:a16="http://schemas.microsoft.com/office/drawing/2014/main" id="{CD2FE8BE-2C06-78FB-2667-1C030BEC8DFF}"/>
                </a:ext>
              </a:extLst>
            </p:cNvPr>
            <p:cNvSpPr txBox="1"/>
            <p:nvPr/>
          </p:nvSpPr>
          <p:spPr>
            <a:xfrm>
              <a:off x="11571272" y="3116270"/>
              <a:ext cx="213360" cy="53086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>
              <a:defPPr>
                <a:defRPr kern="0"/>
              </a:defPPr>
            </a:lstStyle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3300" i="1" spc="-50" dirty="0">
                  <a:latin typeface="Times New Roman"/>
                  <a:cs typeface="Times New Roman"/>
                </a:rPr>
                <a:t>y</a:t>
              </a:r>
              <a:endParaRPr sz="3300">
                <a:latin typeface="Times New Roman"/>
                <a:cs typeface="Times New Roman"/>
              </a:endParaRPr>
            </a:p>
          </p:txBody>
        </p:sp>
        <p:sp>
          <p:nvSpPr>
            <p:cNvPr id="19" name="object 28">
              <a:extLst>
                <a:ext uri="{FF2B5EF4-FFF2-40B4-BE49-F238E27FC236}">
                  <a16:creationId xmlns:a16="http://schemas.microsoft.com/office/drawing/2014/main" id="{C069004C-61D5-B3CA-2506-9628CD7863A3}"/>
                </a:ext>
              </a:extLst>
            </p:cNvPr>
            <p:cNvSpPr/>
            <p:nvPr/>
          </p:nvSpPr>
          <p:spPr>
            <a:xfrm>
              <a:off x="10568333" y="4448669"/>
              <a:ext cx="957580" cy="0"/>
            </a:xfrm>
            <a:custGeom>
              <a:avLst/>
              <a:gdLst/>
              <a:ahLst/>
              <a:cxnLst/>
              <a:rect l="l" t="t" r="r" b="b"/>
              <a:pathLst>
                <a:path w="957579">
                  <a:moveTo>
                    <a:pt x="0" y="0"/>
                  </a:moveTo>
                  <a:lnTo>
                    <a:pt x="957060" y="0"/>
                  </a:lnTo>
                </a:path>
              </a:pathLst>
            </a:custGeom>
            <a:ln w="15684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0" name="object 29">
              <a:extLst>
                <a:ext uri="{FF2B5EF4-FFF2-40B4-BE49-F238E27FC236}">
                  <a16:creationId xmlns:a16="http://schemas.microsoft.com/office/drawing/2014/main" id="{7CA3FAB2-39E7-A78F-6905-6469BFFCD50D}"/>
                </a:ext>
              </a:extLst>
            </p:cNvPr>
            <p:cNvSpPr txBox="1"/>
            <p:nvPr/>
          </p:nvSpPr>
          <p:spPr>
            <a:xfrm>
              <a:off x="10514489" y="4447754"/>
              <a:ext cx="982344" cy="47815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>
              <a:defPPr>
                <a:defRPr kern="0"/>
              </a:defPPr>
            </a:lstStyle>
            <a:p>
              <a:pPr marL="38100">
                <a:lnSpc>
                  <a:spcPct val="100000"/>
                </a:lnSpc>
                <a:spcBef>
                  <a:spcPts val="120"/>
                </a:spcBef>
              </a:pPr>
              <a:r>
                <a:rPr sz="2950" spc="120" dirty="0">
                  <a:latin typeface="Times New Roman"/>
                  <a:cs typeface="Times New Roman"/>
                </a:rPr>
                <a:t>1</a:t>
              </a:r>
              <a:r>
                <a:rPr sz="2950" spc="120" dirty="0">
                  <a:latin typeface="Symbol"/>
                  <a:cs typeface="Symbol"/>
                </a:rPr>
                <a:t></a:t>
              </a:r>
              <a:r>
                <a:rPr sz="2950" spc="-225" dirty="0">
                  <a:latin typeface="Times New Roman"/>
                  <a:cs typeface="Times New Roman"/>
                </a:rPr>
                <a:t> </a:t>
              </a:r>
              <a:r>
                <a:rPr sz="2950" i="1" spc="70" dirty="0">
                  <a:latin typeface="Times New Roman"/>
                  <a:cs typeface="Times New Roman"/>
                </a:rPr>
                <a:t>e</a:t>
              </a:r>
              <a:r>
                <a:rPr sz="2550" spc="104" baseline="44117" dirty="0">
                  <a:latin typeface="Symbol"/>
                  <a:cs typeface="Symbol"/>
                </a:rPr>
                <a:t></a:t>
              </a:r>
              <a:r>
                <a:rPr sz="2550" spc="-375" baseline="44117" dirty="0">
                  <a:latin typeface="Times New Roman"/>
                  <a:cs typeface="Times New Roman"/>
                </a:rPr>
                <a:t> </a:t>
              </a:r>
              <a:r>
                <a:rPr sz="2550" i="1" spc="-75" baseline="44117" dirty="0">
                  <a:latin typeface="Times New Roman"/>
                  <a:cs typeface="Times New Roman"/>
                </a:rPr>
                <a:t>z</a:t>
              </a:r>
              <a:endParaRPr sz="2550" baseline="44117">
                <a:latin typeface="Times New Roman"/>
                <a:cs typeface="Times New Roman"/>
              </a:endParaRPr>
            </a:p>
          </p:txBody>
        </p:sp>
        <p:sp>
          <p:nvSpPr>
            <p:cNvPr id="21" name="object 30">
              <a:extLst>
                <a:ext uri="{FF2B5EF4-FFF2-40B4-BE49-F238E27FC236}">
                  <a16:creationId xmlns:a16="http://schemas.microsoft.com/office/drawing/2014/main" id="{C9411F7A-CB46-5282-D2B2-1BA52F8CC826}"/>
                </a:ext>
              </a:extLst>
            </p:cNvPr>
            <p:cNvSpPr txBox="1"/>
            <p:nvPr/>
          </p:nvSpPr>
          <p:spPr>
            <a:xfrm>
              <a:off x="10939641" y="3915515"/>
              <a:ext cx="215265" cy="47815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>
              <a:defPPr>
                <a:defRPr kern="0"/>
              </a:defPPr>
            </a:lstStyle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2950" spc="-50" dirty="0">
                  <a:latin typeface="Times New Roman"/>
                  <a:cs typeface="Times New Roman"/>
                </a:rPr>
                <a:t>1</a:t>
              </a:r>
              <a:endParaRPr sz="2950">
                <a:latin typeface="Times New Roman"/>
                <a:cs typeface="Times New Roman"/>
              </a:endParaRPr>
            </a:p>
          </p:txBody>
        </p:sp>
        <p:sp>
          <p:nvSpPr>
            <p:cNvPr id="22" name="object 31">
              <a:extLst>
                <a:ext uri="{FF2B5EF4-FFF2-40B4-BE49-F238E27FC236}">
                  <a16:creationId xmlns:a16="http://schemas.microsoft.com/office/drawing/2014/main" id="{9540E974-44AA-100C-6CEE-6068A6953EE1}"/>
                </a:ext>
              </a:extLst>
            </p:cNvPr>
            <p:cNvSpPr txBox="1"/>
            <p:nvPr/>
          </p:nvSpPr>
          <p:spPr>
            <a:xfrm>
              <a:off x="9443835" y="4032385"/>
              <a:ext cx="1043940" cy="62293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>
              <a:defPPr>
                <a:defRPr kern="0"/>
              </a:defPPr>
            </a:lstStyle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3100" i="1" spc="-245" dirty="0">
                  <a:latin typeface="Symbol"/>
                  <a:cs typeface="Symbol"/>
                </a:rPr>
                <a:t></a:t>
              </a:r>
              <a:r>
                <a:rPr lang="en-US" sz="3100" i="1" spc="-245" dirty="0">
                  <a:latin typeface="Symbol"/>
                  <a:cs typeface="Symbol"/>
                </a:rPr>
                <a:t> </a:t>
              </a:r>
              <a:r>
                <a:rPr sz="3900" spc="-245" dirty="0">
                  <a:latin typeface="Symbol"/>
                  <a:cs typeface="Symbol"/>
                </a:rPr>
                <a:t></a:t>
              </a:r>
              <a:r>
                <a:rPr sz="2950" i="1" spc="-245" dirty="0">
                  <a:latin typeface="Times New Roman"/>
                  <a:cs typeface="Times New Roman"/>
                </a:rPr>
                <a:t>z</a:t>
              </a:r>
              <a:r>
                <a:rPr sz="3900" spc="-245" dirty="0">
                  <a:latin typeface="Symbol"/>
                  <a:cs typeface="Symbol"/>
                </a:rPr>
                <a:t></a:t>
              </a:r>
              <a:r>
                <a:rPr sz="3900" spc="-495" dirty="0">
                  <a:latin typeface="Times New Roman"/>
                  <a:cs typeface="Times New Roman"/>
                </a:rPr>
                <a:t> </a:t>
              </a:r>
              <a:r>
                <a:rPr sz="2950" spc="-50" dirty="0">
                  <a:latin typeface="Symbol"/>
                  <a:cs typeface="Symbol"/>
                </a:rPr>
                <a:t></a:t>
              </a:r>
              <a:endParaRPr sz="2950" dirty="0">
                <a:latin typeface="Symbol"/>
                <a:cs typeface="Symbol"/>
              </a:endParaRPr>
            </a:p>
          </p:txBody>
        </p:sp>
        <p:sp>
          <p:nvSpPr>
            <p:cNvPr id="23" name="object 32">
              <a:extLst>
                <a:ext uri="{FF2B5EF4-FFF2-40B4-BE49-F238E27FC236}">
                  <a16:creationId xmlns:a16="http://schemas.microsoft.com/office/drawing/2014/main" id="{78390035-9A81-EB79-FEF9-4BC7260DC97B}"/>
                </a:ext>
              </a:extLst>
            </p:cNvPr>
            <p:cNvSpPr txBox="1"/>
            <p:nvPr/>
          </p:nvSpPr>
          <p:spPr>
            <a:xfrm>
              <a:off x="9746637" y="2195196"/>
              <a:ext cx="1271905" cy="150558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kern="0"/>
              </a:defPPr>
            </a:lstStyle>
            <a:p>
              <a:pPr marL="12065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sz="2400" spc="-10" dirty="0">
                  <a:solidFill>
                    <a:srgbClr val="0000FF"/>
                  </a:solidFill>
                  <a:latin typeface="Calibri"/>
                  <a:cs typeface="Calibri"/>
                </a:rPr>
                <a:t>Activation function</a:t>
              </a:r>
              <a:endParaRPr sz="2400" dirty="0">
                <a:latin typeface="Calibri"/>
                <a:cs typeface="Calibri"/>
              </a:endParaRPr>
            </a:p>
            <a:p>
              <a:pPr marR="26670" algn="ctr">
                <a:lnSpc>
                  <a:spcPct val="100000"/>
                </a:lnSpc>
                <a:spcBef>
                  <a:spcPts val="1205"/>
                </a:spcBef>
              </a:pPr>
              <a:r>
                <a:rPr sz="3100" i="1" spc="-20" dirty="0">
                  <a:latin typeface="Symbol"/>
                  <a:cs typeface="Symbol"/>
                </a:rPr>
                <a:t></a:t>
              </a:r>
              <a:r>
                <a:rPr sz="3900" spc="-20" dirty="0">
                  <a:latin typeface="Symbol"/>
                  <a:cs typeface="Symbol"/>
                </a:rPr>
                <a:t></a:t>
              </a:r>
              <a:r>
                <a:rPr sz="2950" i="1" spc="-20" dirty="0">
                  <a:latin typeface="Times New Roman"/>
                  <a:cs typeface="Times New Roman"/>
                </a:rPr>
                <a:t>z</a:t>
              </a:r>
              <a:r>
                <a:rPr sz="3900" spc="-20" dirty="0">
                  <a:latin typeface="Symbol"/>
                  <a:cs typeface="Symbol"/>
                </a:rPr>
                <a:t></a:t>
              </a:r>
              <a:endParaRPr sz="3900" dirty="0">
                <a:latin typeface="Symbol"/>
                <a:cs typeface="Symbol"/>
              </a:endParaRPr>
            </a:p>
          </p:txBody>
        </p:sp>
        <p:pic>
          <p:nvPicPr>
            <p:cNvPr id="24" name="object 33">
              <a:extLst>
                <a:ext uri="{FF2B5EF4-FFF2-40B4-BE49-F238E27FC236}">
                  <a16:creationId xmlns:a16="http://schemas.microsoft.com/office/drawing/2014/main" id="{AFD10B7C-E50E-9EB6-27A7-04B757372A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3872" y="5075175"/>
              <a:ext cx="548639" cy="522731"/>
            </a:xfrm>
            <a:prstGeom prst="rect">
              <a:avLst/>
            </a:prstGeom>
          </p:spPr>
        </p:pic>
        <p:sp>
          <p:nvSpPr>
            <p:cNvPr id="25" name="object 34">
              <a:extLst>
                <a:ext uri="{FF2B5EF4-FFF2-40B4-BE49-F238E27FC236}">
                  <a16:creationId xmlns:a16="http://schemas.microsoft.com/office/drawing/2014/main" id="{B8E2C5E5-41B0-756E-3704-8AB7B19F7DC7}"/>
                </a:ext>
              </a:extLst>
            </p:cNvPr>
            <p:cNvSpPr txBox="1"/>
            <p:nvPr/>
          </p:nvSpPr>
          <p:spPr>
            <a:xfrm>
              <a:off x="6673872" y="5075175"/>
              <a:ext cx="548640" cy="523240"/>
            </a:xfrm>
            <a:prstGeom prst="rect">
              <a:avLst/>
            </a:prstGeom>
            <a:ln w="6096">
              <a:solidFill>
                <a:srgbClr val="FFC000"/>
              </a:solidFill>
            </a:ln>
          </p:spPr>
          <p:txBody>
            <a:bodyPr vert="horz" wrap="square" lIns="0" tIns="40640" rIns="0" bIns="0" rtlCol="0">
              <a:spAutoFit/>
            </a:bodyPr>
            <a:lstStyle>
              <a:defPPr>
                <a:defRPr kern="0"/>
              </a:defPPr>
            </a:lstStyle>
            <a:p>
              <a:pPr marL="207010">
                <a:lnSpc>
                  <a:spcPct val="100000"/>
                </a:lnSpc>
                <a:spcBef>
                  <a:spcPts val="320"/>
                </a:spcBef>
              </a:pPr>
              <a:r>
                <a:rPr sz="2550" spc="-50" dirty="0">
                  <a:latin typeface="Times New Roman"/>
                  <a:cs typeface="Times New Roman"/>
                </a:rPr>
                <a:t>1</a:t>
              </a:r>
              <a:endParaRPr sz="2550">
                <a:latin typeface="Times New Roman"/>
                <a:cs typeface="Times New Roman"/>
              </a:endParaRPr>
            </a:p>
          </p:txBody>
        </p:sp>
        <p:sp>
          <p:nvSpPr>
            <p:cNvPr id="26" name="object 35">
              <a:extLst>
                <a:ext uri="{FF2B5EF4-FFF2-40B4-BE49-F238E27FC236}">
                  <a16:creationId xmlns:a16="http://schemas.microsoft.com/office/drawing/2014/main" id="{44FAE658-DF44-0692-96EF-2856A1070ABF}"/>
                </a:ext>
              </a:extLst>
            </p:cNvPr>
            <p:cNvSpPr/>
            <p:nvPr/>
          </p:nvSpPr>
          <p:spPr>
            <a:xfrm>
              <a:off x="7213368" y="3524506"/>
              <a:ext cx="1555115" cy="1820545"/>
            </a:xfrm>
            <a:custGeom>
              <a:avLst/>
              <a:gdLst/>
              <a:ahLst/>
              <a:cxnLst/>
              <a:rect l="l" t="t" r="r" b="b"/>
              <a:pathLst>
                <a:path w="1555114" h="1820545">
                  <a:moveTo>
                    <a:pt x="1494412" y="50718"/>
                  </a:moveTo>
                  <a:lnTo>
                    <a:pt x="0" y="1803145"/>
                  </a:lnTo>
                  <a:lnTo>
                    <a:pt x="19812" y="1819960"/>
                  </a:lnTo>
                  <a:lnTo>
                    <a:pt x="1514077" y="67507"/>
                  </a:lnTo>
                  <a:lnTo>
                    <a:pt x="1494412" y="50718"/>
                  </a:lnTo>
                  <a:close/>
                </a:path>
                <a:path w="1555114" h="1820545">
                  <a:moveTo>
                    <a:pt x="1544572" y="40893"/>
                  </a:moveTo>
                  <a:lnTo>
                    <a:pt x="1502790" y="40893"/>
                  </a:lnTo>
                  <a:lnTo>
                    <a:pt x="1522476" y="57657"/>
                  </a:lnTo>
                  <a:lnTo>
                    <a:pt x="1514077" y="67507"/>
                  </a:lnTo>
                  <a:lnTo>
                    <a:pt x="1533778" y="84327"/>
                  </a:lnTo>
                  <a:lnTo>
                    <a:pt x="1544572" y="40893"/>
                  </a:lnTo>
                  <a:close/>
                </a:path>
                <a:path w="1555114" h="1820545">
                  <a:moveTo>
                    <a:pt x="1502790" y="40893"/>
                  </a:moveTo>
                  <a:lnTo>
                    <a:pt x="1494412" y="50718"/>
                  </a:lnTo>
                  <a:lnTo>
                    <a:pt x="1514077" y="67507"/>
                  </a:lnTo>
                  <a:lnTo>
                    <a:pt x="1522476" y="57657"/>
                  </a:lnTo>
                  <a:lnTo>
                    <a:pt x="1502790" y="40893"/>
                  </a:lnTo>
                  <a:close/>
                </a:path>
                <a:path w="1555114" h="1820545">
                  <a:moveTo>
                    <a:pt x="1554734" y="0"/>
                  </a:moveTo>
                  <a:lnTo>
                    <a:pt x="1474724" y="33908"/>
                  </a:lnTo>
                  <a:lnTo>
                    <a:pt x="1494412" y="50718"/>
                  </a:lnTo>
                  <a:lnTo>
                    <a:pt x="1502790" y="40893"/>
                  </a:lnTo>
                  <a:lnTo>
                    <a:pt x="1544572" y="40893"/>
                  </a:lnTo>
                  <a:lnTo>
                    <a:pt x="15547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pic>
        <p:nvPicPr>
          <p:cNvPr id="35" name="圖片 34" descr="一張含有 文字, 行, 圖表, 字型 的圖片&#10;&#10;AI 產生的內容可能不正確。">
            <a:extLst>
              <a:ext uri="{FF2B5EF4-FFF2-40B4-BE49-F238E27FC236}">
                <a16:creationId xmlns:a16="http://schemas.microsoft.com/office/drawing/2014/main" id="{BF3F31F0-9B2B-5149-DDEE-579FAC8AF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811" y="1995948"/>
            <a:ext cx="5675189" cy="392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2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2C43D9-ECCE-83C8-0468-82916186D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Mathematical Model of Artificial Neurons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246087-79AA-80CC-3378-14A4B866F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神經元公式</a:t>
            </a:r>
            <a:r>
              <a:rPr lang="zh-TW" altLang="en-US" dirty="0"/>
              <a:t>：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sz="2000" dirty="0"/>
          </a:p>
          <a:p>
            <a:pPr lvl="1">
              <a:lnSpc>
                <a:spcPts val="3300"/>
              </a:lnSpc>
            </a:pPr>
            <a:endParaRPr lang="en-US" altLang="zh-TW" i="1" dirty="0"/>
          </a:p>
          <a:p>
            <a:pPr lvl="1">
              <a:lnSpc>
                <a:spcPts val="3300"/>
              </a:lnSpc>
            </a:pPr>
            <a:r>
              <a:rPr lang="en-US" altLang="zh-TW" i="1" dirty="0"/>
              <a:t>x</a:t>
            </a:r>
            <a:r>
              <a:rPr lang="en-US" altLang="zh-TW" i="1" baseline="-25000" dirty="0"/>
              <a:t>i</a:t>
            </a:r>
            <a:r>
              <a:rPr lang="en-US" altLang="zh-TW" dirty="0"/>
              <a:t> (Inputs)</a:t>
            </a:r>
            <a:r>
              <a:rPr lang="zh-TW" altLang="en-US" dirty="0"/>
              <a:t>：來自感測器或前一層的特徵數據。</a:t>
            </a:r>
          </a:p>
          <a:p>
            <a:pPr lvl="1">
              <a:lnSpc>
                <a:spcPts val="3300"/>
              </a:lnSpc>
            </a:pPr>
            <a:r>
              <a:rPr lang="en-US" altLang="zh-TW" i="1" dirty="0" err="1"/>
              <a:t>w</a:t>
            </a:r>
            <a:r>
              <a:rPr lang="en-US" altLang="zh-TW" i="1" baseline="-25000" dirty="0" err="1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(Weights)</a:t>
            </a:r>
            <a:r>
              <a:rPr lang="zh-TW" altLang="en-US" dirty="0"/>
              <a:t>：學習到的「經驗值」，代表特徵的重要性。</a:t>
            </a:r>
          </a:p>
          <a:p>
            <a:pPr lvl="1">
              <a:lnSpc>
                <a:spcPts val="3300"/>
              </a:lnSpc>
            </a:pPr>
            <a:r>
              <a:rPr lang="en-US" altLang="zh-TW" i="1" dirty="0"/>
              <a:t>b</a:t>
            </a:r>
            <a:r>
              <a:rPr lang="en-US" altLang="zh-TW" dirty="0"/>
              <a:t> (Bias)</a:t>
            </a:r>
            <a:r>
              <a:rPr lang="zh-TW" altLang="en-US" dirty="0"/>
              <a:t>：調整門檻值，確保模型在輸入為 </a:t>
            </a:r>
            <a:r>
              <a:rPr lang="en-US" altLang="zh-TW" dirty="0"/>
              <a:t>0 </a:t>
            </a:r>
            <a:r>
              <a:rPr lang="zh-TW" altLang="en-US" dirty="0"/>
              <a:t>時仍有靈活性。</a:t>
            </a:r>
          </a:p>
          <a:p>
            <a:pPr lvl="1">
              <a:lnSpc>
                <a:spcPts val="3300"/>
              </a:lnSpc>
            </a:pPr>
            <a:r>
              <a:rPr lang="en-US" altLang="zh-TW" i="1" dirty="0"/>
              <a:t>f </a:t>
            </a:r>
            <a:r>
              <a:rPr lang="en-US" altLang="zh-TW" dirty="0"/>
              <a:t>(Activation Function)</a:t>
            </a:r>
            <a:r>
              <a:rPr lang="zh-TW" altLang="en-US" dirty="0"/>
              <a:t>：引入「非線性」，讓網路能處理複雜問題。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1590AD-A4BC-0B84-D5EE-F048CE0D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字型, 白色, 圖表, 文字 的圖片&#10;&#10;AI 產生的內容可能不正確。">
            <a:extLst>
              <a:ext uri="{FF2B5EF4-FFF2-40B4-BE49-F238E27FC236}">
                <a16:creationId xmlns:a16="http://schemas.microsoft.com/office/drawing/2014/main" id="{416E3CF3-3DDC-46A7-B3B4-30946CD2F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52" y="2204864"/>
            <a:ext cx="3247642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9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1251-5B3A-2940-2DF8-400932F1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4AED26-9C80-54E8-343E-AF0FDA16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Common Activation Functions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1A5618-580A-44F9-8AF1-3CEE519B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4100" name="Picture 4" descr="深度學習：使用激勵函數的目的、如何選擇激勵函數Deep Learning : the role of the activation function  | Mr. Opengate">
            <a:extLst>
              <a:ext uri="{FF2B5EF4-FFF2-40B4-BE49-F238E27FC236}">
                <a16:creationId xmlns:a16="http://schemas.microsoft.com/office/drawing/2014/main" id="{11A4308B-3A72-90B0-67F4-80C181927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105" y="2852936"/>
            <a:ext cx="10704295" cy="313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6E3E2225-B5D4-7B00-7462-5B505E5F3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03" y="1524001"/>
            <a:ext cx="11220715" cy="4608513"/>
          </a:xfrm>
        </p:spPr>
        <p:txBody>
          <a:bodyPr/>
          <a:lstStyle/>
          <a:p>
            <a:r>
              <a:rPr lang="en-US" altLang="zh-TW" b="1" dirty="0"/>
              <a:t>Activation Function</a:t>
            </a:r>
            <a:r>
              <a:rPr lang="zh-TW" altLang="en-US" dirty="0"/>
              <a:t>：引入「非線性」處理，讓網路能處理複雜問題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0734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FF041F-7CAE-DC0D-B817-242D09F2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Different Types of Activation Functions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D83E58-908F-6540-64BA-157E747E9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0882E4-8660-C234-63F2-3032EB968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7170" name="Picture 2" descr="神经网络中的损失函数-CSDN博客">
            <a:extLst>
              <a:ext uri="{FF2B5EF4-FFF2-40B4-BE49-F238E27FC236}">
                <a16:creationId xmlns:a16="http://schemas.microsoft.com/office/drawing/2014/main" id="{5390928A-2F95-FEF6-9E7A-B5E516479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3" b="45447"/>
          <a:stretch>
            <a:fillRect/>
          </a:stretch>
        </p:blipFill>
        <p:spPr bwMode="auto">
          <a:xfrm>
            <a:off x="719403" y="2420888"/>
            <a:ext cx="5400000" cy="285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神经网络中的损失函数-CSDN博客">
            <a:extLst>
              <a:ext uri="{FF2B5EF4-FFF2-40B4-BE49-F238E27FC236}">
                <a16:creationId xmlns:a16="http://schemas.microsoft.com/office/drawing/2014/main" id="{E3B41B35-5A50-43AE-82E4-38CC18843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00"/>
          <a:stretch>
            <a:fillRect/>
          </a:stretch>
        </p:blipFill>
        <p:spPr bwMode="auto">
          <a:xfrm>
            <a:off x="6182400" y="2441329"/>
            <a:ext cx="5400000" cy="2908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484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BE562-7EFA-7DA7-BD90-233AFC03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42D3D7-DF8D-18A7-CC3C-48EC5D8EC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Why is an activation function needed?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25C390-49E1-3033-9894-28D1E6BA2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300"/>
              </a:lnSpc>
            </a:pPr>
            <a:r>
              <a:rPr lang="zh-TW" altLang="en-US" b="1" dirty="0"/>
              <a:t>直觀解釋</a:t>
            </a:r>
            <a:endParaRPr lang="en-US" altLang="zh-TW" b="1" dirty="0"/>
          </a:p>
          <a:p>
            <a:pPr lvl="1">
              <a:lnSpc>
                <a:spcPts val="3300"/>
              </a:lnSpc>
            </a:pPr>
            <a:r>
              <a:rPr lang="zh-TW" altLang="en-US" dirty="0"/>
              <a:t>如果沒有 </a:t>
            </a:r>
            <a:r>
              <a:rPr lang="en-US" altLang="zh-TW" i="1" dirty="0"/>
              <a:t>activation function</a:t>
            </a:r>
            <a:r>
              <a:rPr lang="zh-TW" altLang="en-US" dirty="0"/>
              <a:t>，不論疊加多少層，結果永遠是線性組合</a:t>
            </a:r>
            <a:r>
              <a:rPr lang="en-US" altLang="zh-TW" dirty="0"/>
              <a:t>(</a:t>
            </a:r>
            <a:r>
              <a:rPr lang="zh-TW" altLang="en-US" dirty="0"/>
              <a:t>一條直線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pPr>
              <a:lnSpc>
                <a:spcPts val="3300"/>
              </a:lnSpc>
            </a:pPr>
            <a:endParaRPr lang="en-US" altLang="zh-TW" dirty="0"/>
          </a:p>
          <a:p>
            <a:pPr>
              <a:lnSpc>
                <a:spcPts val="3300"/>
              </a:lnSpc>
            </a:pPr>
            <a:r>
              <a:rPr lang="zh-TW" altLang="en-US" b="1" dirty="0"/>
              <a:t>常用函數</a:t>
            </a:r>
            <a:endParaRPr lang="en-US" altLang="zh-TW" b="1" dirty="0"/>
          </a:p>
          <a:p>
            <a:pPr lvl="1">
              <a:lnSpc>
                <a:spcPts val="3300"/>
              </a:lnSpc>
            </a:pPr>
            <a:r>
              <a:rPr lang="en-US" altLang="zh-TW" dirty="0"/>
              <a:t>Sigmoid</a:t>
            </a:r>
            <a:r>
              <a:rPr lang="zh-TW" altLang="en-US" dirty="0"/>
              <a:t>：將輸出壓縮在 </a:t>
            </a:r>
            <a:r>
              <a:rPr lang="en-US" altLang="zh-TW" dirty="0"/>
              <a:t>0 	~1 </a:t>
            </a:r>
            <a:r>
              <a:rPr lang="zh-TW" altLang="en-US" dirty="0"/>
              <a:t>之間</a:t>
            </a:r>
            <a:r>
              <a:rPr lang="en-US" altLang="zh-TW" dirty="0"/>
              <a:t>(</a:t>
            </a:r>
            <a:r>
              <a:rPr lang="zh-TW" altLang="en-US" dirty="0"/>
              <a:t>適合機率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pPr lvl="1">
              <a:lnSpc>
                <a:spcPts val="3300"/>
              </a:lnSpc>
            </a:pPr>
            <a:r>
              <a:rPr lang="en-US" altLang="zh-TW" dirty="0" err="1"/>
              <a:t>ReLU</a:t>
            </a:r>
            <a:r>
              <a:rPr lang="en-US" altLang="zh-TW" dirty="0"/>
              <a:t> (Rectified Linear Unit)</a:t>
            </a:r>
            <a:r>
              <a:rPr lang="zh-TW" altLang="en-US" dirty="0"/>
              <a:t>：</a:t>
            </a:r>
            <a:endParaRPr lang="en-US" altLang="zh-TW" dirty="0"/>
          </a:p>
          <a:p>
            <a:pPr lvl="2">
              <a:lnSpc>
                <a:spcPts val="3300"/>
              </a:lnSpc>
            </a:pPr>
            <a:r>
              <a:rPr lang="zh-TW" altLang="en-US" dirty="0"/>
              <a:t>目前的主流，解決梯度消失問題，</a:t>
            </a:r>
            <a:endParaRPr lang="en-US" altLang="zh-TW" dirty="0"/>
          </a:p>
          <a:p>
            <a:pPr lvl="2">
              <a:lnSpc>
                <a:spcPts val="3300"/>
              </a:lnSpc>
            </a:pP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 = max(0, x)</a:t>
            </a:r>
            <a:r>
              <a:rPr lang="zh-TW" altLang="en-US" dirty="0"/>
              <a:t>。</a:t>
            </a:r>
          </a:p>
          <a:p>
            <a:pPr lvl="1">
              <a:lnSpc>
                <a:spcPts val="3300"/>
              </a:lnSpc>
            </a:pPr>
            <a:r>
              <a:rPr lang="en-US" altLang="zh-TW" dirty="0"/>
              <a:t>Tanh</a:t>
            </a:r>
            <a:r>
              <a:rPr lang="zh-TW" altLang="en-US" dirty="0"/>
              <a:t>：輸出範圍 </a:t>
            </a:r>
            <a:r>
              <a:rPr lang="en-US" altLang="zh-TW" dirty="0"/>
              <a:t>-1 ~ 1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E01F6B-9176-9295-C5C9-1796B7B1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839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FC18C1-A945-547B-EB6F-332DB3F6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From a Single Neuron to a Network (The Architecture)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1E9FAD-59AF-ECC5-F2E9-290D4DAA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8C78E20C-27EA-16A9-960B-1844D3814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509843"/>
            <a:ext cx="7410896" cy="494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98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6F6A2-4502-6D78-FEC6-85DBBE4A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618A90-3798-C944-BF08-54076433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Basic Architecture of Neural Networks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5D5223-4C6A-CE46-71EF-B5326318E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Three Types of Layers</a:t>
            </a:r>
            <a:endParaRPr lang="zh-TW" altLang="en-US" dirty="0"/>
          </a:p>
          <a:p>
            <a:pPr lvl="1"/>
            <a:r>
              <a:rPr lang="en-US" altLang="zh-TW" dirty="0"/>
              <a:t>Input Layer</a:t>
            </a:r>
            <a:r>
              <a:rPr lang="zh-TW" altLang="en-US" dirty="0"/>
              <a:t> </a:t>
            </a:r>
            <a:r>
              <a:rPr lang="en-US" altLang="zh-TW" sz="1800" dirty="0"/>
              <a:t>(</a:t>
            </a:r>
            <a:r>
              <a:rPr lang="zh-TW" altLang="en-US" sz="1800" dirty="0"/>
              <a:t>輸入層</a:t>
            </a:r>
            <a:r>
              <a:rPr lang="en-US" altLang="zh-TW" sz="1800" dirty="0"/>
              <a:t>)</a:t>
            </a:r>
            <a:endParaRPr lang="zh-TW" altLang="en-US" sz="1800" dirty="0"/>
          </a:p>
          <a:p>
            <a:pPr lvl="1"/>
            <a:r>
              <a:rPr lang="en-US" altLang="zh-TW" dirty="0"/>
              <a:t>Hidden Layer</a:t>
            </a:r>
            <a:r>
              <a:rPr lang="zh-TW" altLang="en-US" dirty="0"/>
              <a:t> </a:t>
            </a:r>
            <a:r>
              <a:rPr lang="en-US" altLang="zh-TW" sz="1800" dirty="0"/>
              <a:t>(</a:t>
            </a:r>
            <a:r>
              <a:rPr lang="zh-TW" altLang="en-US" sz="1800" dirty="0"/>
              <a:t>隱藏層</a:t>
            </a:r>
            <a:r>
              <a:rPr lang="en-US" altLang="zh-TW" sz="1800" dirty="0"/>
              <a:t>)</a:t>
            </a:r>
            <a:endParaRPr lang="zh-TW" altLang="en-US" sz="1800" dirty="0"/>
          </a:p>
          <a:p>
            <a:pPr lvl="1"/>
            <a:r>
              <a:rPr lang="en-US" altLang="zh-TW" dirty="0"/>
              <a:t>Output Layer</a:t>
            </a:r>
            <a:r>
              <a:rPr lang="zh-TW" altLang="en-US" dirty="0"/>
              <a:t> </a:t>
            </a:r>
            <a:r>
              <a:rPr lang="en-US" altLang="zh-TW" sz="1800" dirty="0"/>
              <a:t>(</a:t>
            </a:r>
            <a:r>
              <a:rPr lang="zh-TW" altLang="en-US" sz="1800" dirty="0"/>
              <a:t>輸出層</a:t>
            </a:r>
            <a:r>
              <a:rPr lang="en-US" altLang="zh-TW" sz="1800" dirty="0"/>
              <a:t>)</a:t>
            </a:r>
            <a:endParaRPr lang="zh-TW" altLang="en-US" sz="1800" dirty="0"/>
          </a:p>
          <a:p>
            <a:endParaRPr lang="en-US" altLang="zh-TW" b="1" dirty="0"/>
          </a:p>
          <a:p>
            <a:r>
              <a:rPr lang="en-US" altLang="zh-TW" b="1" dirty="0"/>
              <a:t>Classified by Depth</a:t>
            </a:r>
            <a:endParaRPr lang="zh-TW" altLang="en-US" dirty="0"/>
          </a:p>
          <a:p>
            <a:pPr lvl="1"/>
            <a:r>
              <a:rPr lang="en-US" altLang="zh-TW" dirty="0"/>
              <a:t>Perceptron</a:t>
            </a:r>
            <a:r>
              <a:rPr lang="zh-TW" altLang="en-US" dirty="0"/>
              <a:t> </a:t>
            </a:r>
            <a:r>
              <a:rPr lang="en-US" altLang="zh-TW" sz="1800" dirty="0"/>
              <a:t>(</a:t>
            </a:r>
            <a:r>
              <a:rPr lang="zh-TW" altLang="en-US" sz="1800" dirty="0"/>
              <a:t>單層感知器</a:t>
            </a:r>
            <a:r>
              <a:rPr lang="en-US" altLang="zh-TW" sz="1800" dirty="0"/>
              <a:t>)</a:t>
            </a:r>
            <a:endParaRPr lang="zh-TW" altLang="en-US" sz="1800" dirty="0"/>
          </a:p>
          <a:p>
            <a:pPr lvl="1"/>
            <a:r>
              <a:rPr lang="en-US" altLang="zh-TW" dirty="0"/>
              <a:t>Multi-Layer Perceptron</a:t>
            </a:r>
            <a:r>
              <a:rPr lang="zh-TW" altLang="en-US" dirty="0"/>
              <a:t> </a:t>
            </a:r>
            <a:r>
              <a:rPr lang="en-US" altLang="zh-TW" sz="1800" dirty="0"/>
              <a:t>(</a:t>
            </a:r>
            <a:r>
              <a:rPr lang="zh-TW" altLang="en-US" sz="1800" dirty="0"/>
              <a:t>多層感知器</a:t>
            </a:r>
            <a:r>
              <a:rPr lang="en-US" altLang="zh-TW" sz="1800" dirty="0"/>
              <a:t>)</a:t>
            </a:r>
          </a:p>
          <a:p>
            <a:pPr lvl="1"/>
            <a:r>
              <a:rPr lang="en-US" altLang="zh-TW" dirty="0"/>
              <a:t>Deep Neural Network</a:t>
            </a:r>
            <a:r>
              <a:rPr lang="zh-TW" altLang="en-US" dirty="0"/>
              <a:t> </a:t>
            </a:r>
            <a:r>
              <a:rPr lang="en-US" altLang="zh-TW" sz="1800" dirty="0"/>
              <a:t>(</a:t>
            </a:r>
            <a:r>
              <a:rPr lang="zh-TW" altLang="en-US" sz="1800" dirty="0"/>
              <a:t>深度神經網路</a:t>
            </a:r>
            <a:r>
              <a:rPr lang="en-US" altLang="zh-TW" sz="1800" dirty="0"/>
              <a:t>)</a:t>
            </a:r>
            <a:endParaRPr lang="zh-TW" altLang="en-US" sz="1800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19095B-E291-1504-4394-0B1150A1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674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1FE1-54F3-A422-9407-25D80962A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F0BAD3-BB16-AE88-85DD-BF9D0EB3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Feedforward Propagation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前向傳播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7FC7145-992E-5514-62C8-F00CDDC546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b="1" dirty="0"/>
                  <a:t>概念</a:t>
                </a:r>
                <a:endParaRPr lang="zh-TW" altLang="en-US" dirty="0"/>
              </a:p>
              <a:p>
                <a:pPr lvl="1"/>
                <a:r>
                  <a:rPr lang="zh-TW" altLang="en-US" dirty="0"/>
                  <a:t>資料從輸入層 → 隱藏層 → 輸出層</a:t>
                </a:r>
              </a:p>
              <a:p>
                <a:pPr lvl="1"/>
                <a:r>
                  <a:rPr lang="zh-TW" altLang="en-US" dirty="0"/>
                  <a:t>逐層計算加權總和與活化函數</a:t>
                </a:r>
              </a:p>
              <a:p>
                <a:endParaRPr lang="en-US" altLang="zh-TW" b="1" dirty="0"/>
              </a:p>
              <a:p>
                <a:r>
                  <a:rPr lang="zh-TW" altLang="en-US" b="1" dirty="0"/>
                  <a:t>目的</a:t>
                </a:r>
                <a:endParaRPr lang="zh-TW" altLang="en-US" dirty="0"/>
              </a:p>
              <a:p>
                <a:pPr lvl="1"/>
                <a:r>
                  <a:rPr lang="zh-TW" altLang="en-US" dirty="0"/>
                  <a:t>根據目前權重，產生預測結果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7FC7145-992E-5514-62C8-F00CDDC546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17" t="-13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3545D1-11B0-8ECF-1F7D-177D58C9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2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6C511-391B-DB71-2715-8E6FC9FD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5C34AC-4CA4-F594-34E1-95566B9C9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Loss Function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損失函數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622872-A228-C68C-DAFC-A160244E1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Loss Function </a:t>
            </a:r>
            <a:r>
              <a:rPr lang="zh-TW" altLang="en-US" b="1" dirty="0"/>
              <a:t>用途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衡量模型預測與真實答案的差距</a:t>
            </a:r>
          </a:p>
          <a:p>
            <a:endParaRPr lang="en-US" altLang="zh-TW" b="1" dirty="0"/>
          </a:p>
          <a:p>
            <a:r>
              <a:rPr lang="zh-TW" altLang="en-US" b="1" dirty="0"/>
              <a:t>常見損失函數</a:t>
            </a:r>
            <a:r>
              <a:rPr lang="zh-TW" altLang="en-US" dirty="0"/>
              <a:t>：</a:t>
            </a:r>
          </a:p>
          <a:p>
            <a:pPr lvl="1"/>
            <a:r>
              <a:rPr lang="zh-TW" altLang="en-US" dirty="0"/>
              <a:t>均方誤差</a:t>
            </a:r>
            <a:r>
              <a:rPr lang="en-US" altLang="zh-TW" dirty="0"/>
              <a:t>(MSE)</a:t>
            </a:r>
            <a:r>
              <a:rPr lang="zh-TW" altLang="en-US" dirty="0"/>
              <a:t>：回歸問題</a:t>
            </a:r>
          </a:p>
          <a:p>
            <a:pPr lvl="1"/>
            <a:r>
              <a:rPr lang="en-US" altLang="zh-TW" dirty="0"/>
              <a:t>Cross-Entropy</a:t>
            </a:r>
            <a:r>
              <a:rPr lang="zh-TW" altLang="en-US" dirty="0"/>
              <a:t>：分類問題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795C9A-B429-8B9E-0E41-85B29D23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725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A1080-86B5-04B7-3431-0DD5F241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Different Types of Loss Functions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E03C91-72AE-9FBC-344F-669CBE8C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8194" name="Picture 2" descr="10 个最常用的损失函数-CSDN博客">
            <a:extLst>
              <a:ext uri="{FF2B5EF4-FFF2-40B4-BE49-F238E27FC236}">
                <a16:creationId xmlns:a16="http://schemas.microsoft.com/office/drawing/2014/main" id="{0B5A73BF-83C9-BE11-3450-26899CA6C5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 b="38450"/>
          <a:stretch>
            <a:fillRect/>
          </a:stretch>
        </p:blipFill>
        <p:spPr bwMode="auto">
          <a:xfrm>
            <a:off x="6199790" y="1988840"/>
            <a:ext cx="5760000" cy="354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10 个最常用的损失函数-CSDN博客">
            <a:extLst>
              <a:ext uri="{FF2B5EF4-FFF2-40B4-BE49-F238E27FC236}">
                <a16:creationId xmlns:a16="http://schemas.microsoft.com/office/drawing/2014/main" id="{9456F669-11DB-6EEF-43D8-5E5EE025DA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50"/>
          <a:stretch>
            <a:fillRect/>
          </a:stretch>
        </p:blipFill>
        <p:spPr bwMode="auto">
          <a:xfrm>
            <a:off x="263352" y="1988840"/>
            <a:ext cx="5760000" cy="254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360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C94435-ABC5-D851-E5E0-EE9035236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Binary Cross Entropy</a:t>
            </a:r>
            <a:r>
              <a:rPr lang="zh-TW" altLang="en-US" dirty="0"/>
              <a:t> </a:t>
            </a:r>
            <a:r>
              <a:rPr lang="en-US" altLang="zh-TW" dirty="0"/>
              <a:t>(BCE)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5A9D25-4D4D-CAD3-FC18-E480C9994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使用時機：二元分類問題</a:t>
            </a:r>
            <a:endParaRPr lang="en-US" altLang="zh-TW" b="1" dirty="0"/>
          </a:p>
          <a:p>
            <a:pPr lvl="1"/>
            <a:r>
              <a:rPr lang="zh-TW" altLang="en-US" dirty="0"/>
              <a:t>例如：會買 </a:t>
            </a:r>
            <a:r>
              <a:rPr lang="en-US" altLang="zh-TW" dirty="0"/>
              <a:t>/ </a:t>
            </a:r>
            <a:r>
              <a:rPr lang="zh-TW" altLang="en-US" dirty="0"/>
              <a:t>不會買、有病 </a:t>
            </a:r>
            <a:r>
              <a:rPr lang="en-US" altLang="zh-TW" dirty="0"/>
              <a:t>/ </a:t>
            </a:r>
            <a:r>
              <a:rPr lang="zh-TW" altLang="en-US" dirty="0"/>
              <a:t>沒病、垃圾信 </a:t>
            </a:r>
            <a:r>
              <a:rPr lang="en-US" altLang="zh-TW" dirty="0"/>
              <a:t>/ </a:t>
            </a:r>
            <a:r>
              <a:rPr lang="zh-TW" altLang="en-US" dirty="0"/>
              <a:t>非垃圾信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公式：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F602F5-FBC3-FBC8-D8B9-2A6AB6F3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7" name="圖片 6" descr="一張含有 文字, 字型, 白色, 收據 的圖片&#10;&#10;AI 產生的內容可能不正確。">
            <a:extLst>
              <a:ext uri="{FF2B5EF4-FFF2-40B4-BE49-F238E27FC236}">
                <a16:creationId xmlns:a16="http://schemas.microsoft.com/office/drawing/2014/main" id="{6E176CBB-533C-F4AA-7EE4-48770218A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306"/>
          <a:stretch>
            <a:fillRect/>
          </a:stretch>
        </p:blipFill>
        <p:spPr>
          <a:xfrm>
            <a:off x="809641" y="5052862"/>
            <a:ext cx="8598727" cy="1040434"/>
          </a:xfrm>
          <a:prstGeom prst="rect">
            <a:avLst/>
          </a:prstGeom>
        </p:spPr>
      </p:pic>
      <p:pic>
        <p:nvPicPr>
          <p:cNvPr id="8" name="圖片 7" descr="一張含有 文字, 字型, 白色, 收據 的圖片&#10;&#10;AI 產生的內容可能不正確。">
            <a:extLst>
              <a:ext uri="{FF2B5EF4-FFF2-40B4-BE49-F238E27FC236}">
                <a16:creationId xmlns:a16="http://schemas.microsoft.com/office/drawing/2014/main" id="{07B030C6-7812-6C35-DCF6-B853879EE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20" b="64792"/>
          <a:stretch>
            <a:fillRect/>
          </a:stretch>
        </p:blipFill>
        <p:spPr>
          <a:xfrm>
            <a:off x="1919536" y="4127412"/>
            <a:ext cx="4976936" cy="66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14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871B-2761-1DDB-707E-0D3F5C1E5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AE526A-3417-DC04-AFE5-0742C48C6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Binary Cross Entropy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二分類交叉熵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91CC14-285F-AB66-8542-4AE9FBEB0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E34BC15-3F2F-4ACF-6409-73C80B41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75" r="40034" b="17647"/>
          <a:stretch>
            <a:fillRect/>
          </a:stretch>
        </p:blipFill>
        <p:spPr>
          <a:xfrm>
            <a:off x="1504199" y="2652331"/>
            <a:ext cx="1639473" cy="3096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圖片 7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6D9EC96D-0A15-8507-C312-68C008E4C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80" y="2580323"/>
            <a:ext cx="6754168" cy="3801005"/>
          </a:xfrm>
          <a:prstGeom prst="rect">
            <a:avLst/>
          </a:prstGeom>
        </p:spPr>
      </p:pic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0D723EFE-DB4D-709E-C108-AFA32533A8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232" b="17647"/>
          <a:stretch>
            <a:fillRect/>
          </a:stretch>
        </p:blipFill>
        <p:spPr>
          <a:xfrm>
            <a:off x="620053" y="2652331"/>
            <a:ext cx="870847" cy="3096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圖片 9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8C334F02-E147-708D-002E-B6D0B56D66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385" b="17647"/>
          <a:stretch>
            <a:fillRect/>
          </a:stretch>
        </p:blipFill>
        <p:spPr>
          <a:xfrm>
            <a:off x="3156971" y="2652331"/>
            <a:ext cx="1392038" cy="3096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圖片 10" descr="一張含有 文字, 字型, 白色, 收據 的圖片&#10;&#10;AI 產生的內容可能不正確。">
            <a:extLst>
              <a:ext uri="{FF2B5EF4-FFF2-40B4-BE49-F238E27FC236}">
                <a16:creationId xmlns:a16="http://schemas.microsoft.com/office/drawing/2014/main" id="{BD70FC3E-C131-DD76-8394-6ECE16ABF1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120" b="64792"/>
          <a:stretch>
            <a:fillRect/>
          </a:stretch>
        </p:blipFill>
        <p:spPr>
          <a:xfrm>
            <a:off x="5016127" y="1492181"/>
            <a:ext cx="4976936" cy="66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22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39F5-34BC-23AD-9D5A-4845C8C6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B366C1-A831-AF2F-8986-3409DDED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Cross Entropy Loss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交叉熵損失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FC04A2-FA1E-90F7-D7D5-E55ABDAD5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300"/>
              </a:lnSpc>
            </a:pPr>
            <a:r>
              <a:rPr lang="zh-TW" altLang="en-US" b="1" dirty="0"/>
              <a:t>使用時機：多類別分類（單一正確答案）</a:t>
            </a:r>
            <a:endParaRPr lang="en-US" altLang="zh-TW" b="1" dirty="0"/>
          </a:p>
          <a:p>
            <a:pPr lvl="1">
              <a:lnSpc>
                <a:spcPts val="3300"/>
              </a:lnSpc>
            </a:pPr>
            <a:r>
              <a:rPr lang="zh-TW" altLang="en-US" dirty="0"/>
              <a:t>例如：手寫數字 </a:t>
            </a:r>
            <a:r>
              <a:rPr lang="en-US" altLang="zh-TW" dirty="0"/>
              <a:t>0–9</a:t>
            </a:r>
            <a:r>
              <a:rPr lang="zh-TW" altLang="en-US" dirty="0"/>
              <a:t>、鳶尾花分類</a:t>
            </a:r>
          </a:p>
          <a:p>
            <a:pPr>
              <a:lnSpc>
                <a:spcPts val="3300"/>
              </a:lnSpc>
            </a:pPr>
            <a:endParaRPr lang="en-US" altLang="zh-TW" dirty="0"/>
          </a:p>
          <a:p>
            <a:r>
              <a:rPr lang="zh-TW" altLang="en-US" dirty="0"/>
              <a:t>公式：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1F712-AAD5-141D-9B65-34D2DB47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字型, 白色, 圖表, 設計 的圖片&#10;&#10;AI 產生的內容可能不正確。">
            <a:extLst>
              <a:ext uri="{FF2B5EF4-FFF2-40B4-BE49-F238E27FC236}">
                <a16:creationId xmlns:a16="http://schemas.microsoft.com/office/drawing/2014/main" id="{BB67434D-7A13-23B6-B74C-DE8D6627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3423895"/>
            <a:ext cx="2905641" cy="1224136"/>
          </a:xfrm>
          <a:prstGeom prst="rect">
            <a:avLst/>
          </a:prstGeom>
        </p:spPr>
      </p:pic>
      <p:pic>
        <p:nvPicPr>
          <p:cNvPr id="8" name="圖片 7" descr="一張含有 文字, 字型, 白色, 收據 的圖片&#10;&#10;AI 產生的內容可能不正確。">
            <a:extLst>
              <a:ext uri="{FF2B5EF4-FFF2-40B4-BE49-F238E27FC236}">
                <a16:creationId xmlns:a16="http://schemas.microsoft.com/office/drawing/2014/main" id="{584C0ACF-1DA3-AA3E-64F7-E6A15C2DD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4981822"/>
            <a:ext cx="3277902" cy="132286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9405B0C-AD08-E5A2-2B51-EDF8BA3DA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808" y="4648030"/>
            <a:ext cx="7634931" cy="43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16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8C11-4073-0982-F98C-C4E22301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FE027-1ECB-D392-A96D-BD328DD4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Cross Entropy Loss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交叉熵損失</a:t>
            </a:r>
            <a:r>
              <a:rPr lang="en-US" altLang="zh-TW" sz="2800" dirty="0"/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2CFA71-0B3D-7C28-92F1-5CCF9C90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10C96F3-F337-097C-D1D3-EF962781C5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71"/>
          <a:stretch>
            <a:fillRect/>
          </a:stretch>
        </p:blipFill>
        <p:spPr>
          <a:xfrm>
            <a:off x="1940802" y="1484784"/>
            <a:ext cx="8287290" cy="52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0331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37366-EAE0-7F7B-6FD8-6D24629A5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D579A3-05D2-CC7E-0232-2D4F474B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Backpropagation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反向傳播法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556DF7-D3B8-25C1-798B-27D5DA0D4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300"/>
              </a:lnSpc>
            </a:pPr>
            <a:r>
              <a:rPr lang="zh-TW" altLang="en-US" b="1" dirty="0"/>
              <a:t>核心概念</a:t>
            </a:r>
            <a:endParaRPr lang="zh-TW" altLang="en-US" dirty="0"/>
          </a:p>
          <a:p>
            <a:pPr lvl="1">
              <a:lnSpc>
                <a:spcPts val="3300"/>
              </a:lnSpc>
            </a:pPr>
            <a:r>
              <a:rPr lang="zh-TW" altLang="en-US" dirty="0"/>
              <a:t>利用鏈鎖法則</a:t>
            </a:r>
            <a:r>
              <a:rPr lang="en-US" altLang="zh-TW" dirty="0"/>
              <a:t>(Chain Rule)</a:t>
            </a:r>
            <a:endParaRPr lang="zh-TW" altLang="en-US" dirty="0"/>
          </a:p>
          <a:p>
            <a:pPr lvl="1">
              <a:lnSpc>
                <a:spcPts val="3300"/>
              </a:lnSpc>
            </a:pPr>
            <a:r>
              <a:rPr lang="zh-TW" altLang="en-US" dirty="0"/>
              <a:t>將誤差由輸出層往回傳</a:t>
            </a:r>
          </a:p>
          <a:p>
            <a:pPr lvl="1">
              <a:lnSpc>
                <a:spcPts val="3300"/>
              </a:lnSpc>
            </a:pPr>
            <a:r>
              <a:rPr lang="zh-TW" altLang="en-US" dirty="0"/>
              <a:t>計算每個權重的梯度</a:t>
            </a:r>
          </a:p>
          <a:p>
            <a:pPr>
              <a:lnSpc>
                <a:spcPts val="3300"/>
              </a:lnSpc>
            </a:pPr>
            <a:endParaRPr lang="en-US" altLang="zh-TW" b="1" dirty="0"/>
          </a:p>
          <a:p>
            <a:pPr>
              <a:lnSpc>
                <a:spcPts val="3300"/>
              </a:lnSpc>
            </a:pPr>
            <a:r>
              <a:rPr lang="zh-TW" altLang="en-US" b="1" dirty="0"/>
              <a:t>目標</a:t>
            </a:r>
            <a:endParaRPr lang="zh-TW" altLang="en-US" dirty="0"/>
          </a:p>
          <a:p>
            <a:pPr lvl="1">
              <a:lnSpc>
                <a:spcPts val="3300"/>
              </a:lnSpc>
            </a:pPr>
            <a:r>
              <a:rPr lang="zh-TW" altLang="en-US" dirty="0"/>
              <a:t>更新權重，使損失函數最小化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B53502-7AC7-00FD-0D02-DD90BF93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525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4BA1F-00CF-7DFD-2ED1-483811FD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7D44AB-6300-97FA-1761-2BD37D04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Update Weights by Gradient Descent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梯度下降法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E7C0BE-2480-81B5-C139-9F6305F9A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權重更新公式</a:t>
            </a:r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r>
              <a:rPr lang="zh-TW" altLang="en-US" b="1" dirty="0"/>
              <a:t>變形</a:t>
            </a:r>
            <a:endParaRPr lang="zh-TW" altLang="en-US" dirty="0"/>
          </a:p>
          <a:p>
            <a:pPr lvl="1"/>
            <a:r>
              <a:rPr lang="en-US" altLang="zh-TW" dirty="0"/>
              <a:t>Adam</a:t>
            </a:r>
            <a:r>
              <a:rPr lang="zh-TW" altLang="en-US" dirty="0"/>
              <a:t>（常用）</a:t>
            </a:r>
          </a:p>
          <a:p>
            <a:pPr lvl="1"/>
            <a:r>
              <a:rPr lang="en-US" altLang="zh-TW" dirty="0"/>
              <a:t>Batch Gradient Descent</a:t>
            </a:r>
          </a:p>
          <a:p>
            <a:pPr lvl="1"/>
            <a:r>
              <a:rPr lang="en-US" altLang="zh-TW" dirty="0"/>
              <a:t>Stochastic Gradient Descent (SGD)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B795D0-E15F-EF20-652F-732738DE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字型, 白色, 印刷術 的圖片&#10;&#10;AI 產生的內容可能不正確。">
            <a:extLst>
              <a:ext uri="{FF2B5EF4-FFF2-40B4-BE49-F238E27FC236}">
                <a16:creationId xmlns:a16="http://schemas.microsoft.com/office/drawing/2014/main" id="{9660E8FC-2271-D751-EB56-4BE5DB629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584" y="2132856"/>
            <a:ext cx="4734359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46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CA5972-17DB-CE7F-DF1F-F39C5F785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Gradient Descent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梯度下降法</a:t>
            </a:r>
            <a:r>
              <a:rPr lang="en-US" altLang="zh-TW" sz="2800" dirty="0"/>
              <a:t>)</a:t>
            </a:r>
            <a:r>
              <a:rPr lang="en-US" altLang="zh-TW" dirty="0"/>
              <a:t> </a:t>
            </a:r>
            <a:br>
              <a:rPr lang="en-US" altLang="zh-TW" dirty="0"/>
            </a:br>
            <a:r>
              <a:rPr lang="en-US" altLang="zh-TW" dirty="0"/>
              <a:t>Blind Man Goes Down the Mountain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AF6724-DC21-2F7F-6666-95059944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12290" name="Picture 2" descr="深度學習講中文] 簡單解釋梯度下降法(Gradient Descent) | by 呂孟耿| Medium">
            <a:extLst>
              <a:ext uri="{FF2B5EF4-FFF2-40B4-BE49-F238E27FC236}">
                <a16:creationId xmlns:a16="http://schemas.microsoft.com/office/drawing/2014/main" id="{D2C66B76-34FF-42B9-CC06-972AB5EB40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74" b="3486"/>
          <a:stretch>
            <a:fillRect/>
          </a:stretch>
        </p:blipFill>
        <p:spPr bwMode="auto">
          <a:xfrm>
            <a:off x="1055440" y="1701328"/>
            <a:ext cx="7981647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716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DE85C-FE53-061C-C834-42A65A45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Gradient Descent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梯度下降法</a:t>
            </a:r>
            <a:r>
              <a:rPr lang="en-US" altLang="zh-TW" sz="2800" dirty="0"/>
              <a:t>)</a:t>
            </a:r>
            <a:r>
              <a:rPr lang="en-US" altLang="zh-TW" dirty="0"/>
              <a:t> </a:t>
            </a:r>
            <a:br>
              <a:rPr lang="en-US" altLang="zh-TW" dirty="0"/>
            </a:br>
            <a:r>
              <a:rPr lang="en-US" altLang="zh-TW" dirty="0"/>
              <a:t>Blind Man Goes Down the Mountain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B6B010-BF9F-7F69-6275-AADF3105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5" name="Picture 2" descr="深度學習講中文] 簡單解釋梯度下降法(Gradient Descent) | by 呂孟耿| Medium">
            <a:extLst>
              <a:ext uri="{FF2B5EF4-FFF2-40B4-BE49-F238E27FC236}">
                <a16:creationId xmlns:a16="http://schemas.microsoft.com/office/drawing/2014/main" id="{33376E39-2621-191A-0C59-5DF87F3C80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74" b="3486"/>
          <a:stretch>
            <a:fillRect/>
          </a:stretch>
        </p:blipFill>
        <p:spPr bwMode="auto">
          <a:xfrm>
            <a:off x="500968" y="2133376"/>
            <a:ext cx="7981647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20B1C7E-8D84-02EA-D30F-955B3AE450D9}"/>
              </a:ext>
            </a:extLst>
          </p:cNvPr>
          <p:cNvGrpSpPr/>
          <p:nvPr/>
        </p:nvGrpSpPr>
        <p:grpSpPr>
          <a:xfrm>
            <a:off x="983432" y="2132856"/>
            <a:ext cx="7344816" cy="2012458"/>
            <a:chOff x="983432" y="1753514"/>
            <a:chExt cx="7344816" cy="201245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8182437-C98C-D7A3-B681-7715B246F339}"/>
                </a:ext>
              </a:extLst>
            </p:cNvPr>
            <p:cNvSpPr/>
            <p:nvPr/>
          </p:nvSpPr>
          <p:spPr bwMode="auto">
            <a:xfrm>
              <a:off x="983432" y="2060848"/>
              <a:ext cx="698477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8C85493-9238-D567-E7AC-7BE9EABED40B}"/>
                </a:ext>
              </a:extLst>
            </p:cNvPr>
            <p:cNvSpPr/>
            <p:nvPr/>
          </p:nvSpPr>
          <p:spPr bwMode="auto">
            <a:xfrm>
              <a:off x="6023992" y="1753514"/>
              <a:ext cx="2304256" cy="451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CA6CBDC-CBBD-5872-FBA5-FC64BAC6A333}"/>
                </a:ext>
              </a:extLst>
            </p:cNvPr>
            <p:cNvSpPr/>
            <p:nvPr/>
          </p:nvSpPr>
          <p:spPr bwMode="auto">
            <a:xfrm>
              <a:off x="2171564" y="2640678"/>
              <a:ext cx="4428492" cy="451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FFAE6D4-AA4D-842F-0A01-503CA8C237DD}"/>
                </a:ext>
              </a:extLst>
            </p:cNvPr>
            <p:cNvSpPr/>
            <p:nvPr/>
          </p:nvSpPr>
          <p:spPr bwMode="auto">
            <a:xfrm>
              <a:off x="2301450" y="3068959"/>
              <a:ext cx="5882781" cy="6970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1" name="圖片 10" descr="一張含有 文字, 字型, 收據, 白色 的圖片&#10;&#10;AI 產生的內容可能不正確。">
            <a:extLst>
              <a:ext uri="{FF2B5EF4-FFF2-40B4-BE49-F238E27FC236}">
                <a16:creationId xmlns:a16="http://schemas.microsoft.com/office/drawing/2014/main" id="{C8430C0F-DE0E-B3F9-12C0-996DD38B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32"/>
          <a:stretch>
            <a:fillRect/>
          </a:stretch>
        </p:blipFill>
        <p:spPr>
          <a:xfrm>
            <a:off x="3665973" y="1484784"/>
            <a:ext cx="8259328" cy="210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23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9547B-7643-8994-739E-AFACFE15C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773134-258D-E63F-E679-1408D710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Gradient Descent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梯度下降法</a:t>
            </a:r>
            <a:r>
              <a:rPr lang="en-US" altLang="zh-TW" sz="2800" dirty="0"/>
              <a:t>)</a:t>
            </a:r>
            <a:r>
              <a:rPr lang="en-US" altLang="zh-TW" dirty="0"/>
              <a:t> </a:t>
            </a:r>
            <a:br>
              <a:rPr lang="en-US" altLang="zh-TW" dirty="0"/>
            </a:br>
            <a:r>
              <a:rPr lang="en-US" altLang="zh-TW" dirty="0"/>
              <a:t>Blind Man Goes Down the Mountain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B8E41E-5F48-2F73-C4D5-B3C472F23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23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12290" name="Picture 2" descr="深度學習講中文] 簡單解釋梯度下降法(Gradient Descent) | by 呂孟耿| Medium">
            <a:extLst>
              <a:ext uri="{FF2B5EF4-FFF2-40B4-BE49-F238E27FC236}">
                <a16:creationId xmlns:a16="http://schemas.microsoft.com/office/drawing/2014/main" id="{E78AA296-ACD8-6DCA-1429-F142B9444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74" b="3486"/>
          <a:stretch>
            <a:fillRect/>
          </a:stretch>
        </p:blipFill>
        <p:spPr bwMode="auto">
          <a:xfrm>
            <a:off x="500968" y="2132856"/>
            <a:ext cx="7981647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FE339528-49BC-F81D-18E9-0C1810407FE1}"/>
              </a:ext>
            </a:extLst>
          </p:cNvPr>
          <p:cNvGrpSpPr/>
          <p:nvPr/>
        </p:nvGrpSpPr>
        <p:grpSpPr>
          <a:xfrm>
            <a:off x="983432" y="2139697"/>
            <a:ext cx="7344816" cy="2012458"/>
            <a:chOff x="983432" y="1753514"/>
            <a:chExt cx="7344816" cy="201245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2A855CF-5755-D7B6-E6EF-E43F54B02201}"/>
                </a:ext>
              </a:extLst>
            </p:cNvPr>
            <p:cNvSpPr/>
            <p:nvPr/>
          </p:nvSpPr>
          <p:spPr bwMode="auto">
            <a:xfrm>
              <a:off x="983432" y="2060848"/>
              <a:ext cx="698477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4B0C663-FCB7-D282-34C8-9962FB0806CB}"/>
                </a:ext>
              </a:extLst>
            </p:cNvPr>
            <p:cNvSpPr/>
            <p:nvPr/>
          </p:nvSpPr>
          <p:spPr bwMode="auto">
            <a:xfrm>
              <a:off x="6023992" y="1753514"/>
              <a:ext cx="2304256" cy="451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C1EBF79-22AC-2B2E-CD45-5B24A3D4AAE0}"/>
                </a:ext>
              </a:extLst>
            </p:cNvPr>
            <p:cNvSpPr/>
            <p:nvPr/>
          </p:nvSpPr>
          <p:spPr bwMode="auto">
            <a:xfrm>
              <a:off x="2171564" y="2640678"/>
              <a:ext cx="4428492" cy="451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031FF04-8BE2-7593-083E-B6D2C46712BC}"/>
                </a:ext>
              </a:extLst>
            </p:cNvPr>
            <p:cNvSpPr/>
            <p:nvPr/>
          </p:nvSpPr>
          <p:spPr bwMode="auto">
            <a:xfrm>
              <a:off x="2301450" y="3068959"/>
              <a:ext cx="5882781" cy="6970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0" name="圖片 9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42904371-C5C1-CE79-B7BA-7516C6D2B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46" y="1412776"/>
            <a:ext cx="7757818" cy="352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2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30866-079C-0455-A2C0-20E3294C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DE8644-8C98-C8D3-FAFE-80F2BD6D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Gradient Descent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梯度下降法</a:t>
            </a:r>
            <a:r>
              <a:rPr lang="en-US" altLang="zh-TW" sz="2800" dirty="0"/>
              <a:t>)</a:t>
            </a:r>
            <a:r>
              <a:rPr lang="en-US" altLang="zh-TW" dirty="0"/>
              <a:t> </a:t>
            </a:r>
            <a:br>
              <a:rPr lang="en-US" altLang="zh-TW" dirty="0"/>
            </a:br>
            <a:r>
              <a:rPr lang="en-US" altLang="zh-TW" dirty="0"/>
              <a:t>Blind Man Goes Down the Mountain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807A77-ECD4-4E1C-4AD9-3A4831A1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12290" name="Picture 2" descr="深度學習講中文] 簡單解釋梯度下降法(Gradient Descent) | by 呂孟耿| Medium">
            <a:extLst>
              <a:ext uri="{FF2B5EF4-FFF2-40B4-BE49-F238E27FC236}">
                <a16:creationId xmlns:a16="http://schemas.microsoft.com/office/drawing/2014/main" id="{2E19A36C-8331-D7F7-B761-2E8C0C91A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74" b="3486"/>
          <a:stretch>
            <a:fillRect/>
          </a:stretch>
        </p:blipFill>
        <p:spPr bwMode="auto">
          <a:xfrm>
            <a:off x="500968" y="2132856"/>
            <a:ext cx="7981647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BF9084BA-20B2-E30D-4868-C2FD3C37CA8E}"/>
              </a:ext>
            </a:extLst>
          </p:cNvPr>
          <p:cNvGrpSpPr/>
          <p:nvPr/>
        </p:nvGrpSpPr>
        <p:grpSpPr>
          <a:xfrm>
            <a:off x="983432" y="2139697"/>
            <a:ext cx="7344816" cy="2012458"/>
            <a:chOff x="983432" y="1753514"/>
            <a:chExt cx="7344816" cy="201245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8D16FF1-91F3-AE33-5F2F-683B0BC0CD67}"/>
                </a:ext>
              </a:extLst>
            </p:cNvPr>
            <p:cNvSpPr/>
            <p:nvPr/>
          </p:nvSpPr>
          <p:spPr bwMode="auto">
            <a:xfrm>
              <a:off x="983432" y="2060848"/>
              <a:ext cx="698477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22F9D80-4E15-76C1-0E6A-574DF2BD633E}"/>
                </a:ext>
              </a:extLst>
            </p:cNvPr>
            <p:cNvSpPr/>
            <p:nvPr/>
          </p:nvSpPr>
          <p:spPr bwMode="auto">
            <a:xfrm>
              <a:off x="6023992" y="1753514"/>
              <a:ext cx="2304256" cy="451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1247DA-9C68-0967-3513-A4870B302F6D}"/>
                </a:ext>
              </a:extLst>
            </p:cNvPr>
            <p:cNvSpPr/>
            <p:nvPr/>
          </p:nvSpPr>
          <p:spPr bwMode="auto">
            <a:xfrm>
              <a:off x="2171564" y="2640678"/>
              <a:ext cx="4428492" cy="451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B2D2F5C-6AEF-800D-6BF3-8DA055660FE7}"/>
                </a:ext>
              </a:extLst>
            </p:cNvPr>
            <p:cNvSpPr/>
            <p:nvPr/>
          </p:nvSpPr>
          <p:spPr bwMode="auto">
            <a:xfrm>
              <a:off x="2301450" y="3068959"/>
              <a:ext cx="5882781" cy="6970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1" name="圖片 10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319D3CFE-61DA-D117-533B-5BE35E8E0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760" y="1439681"/>
            <a:ext cx="7897327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82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B755-4148-8ECA-82FC-A2EBC029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2C9874-5B2A-06D8-F35D-FB0E98DD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Gradient Descent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梯度下降法</a:t>
            </a:r>
            <a:r>
              <a:rPr lang="en-US" altLang="zh-TW" sz="2800" dirty="0"/>
              <a:t>)</a:t>
            </a:r>
            <a:r>
              <a:rPr lang="en-US" altLang="zh-TW" dirty="0"/>
              <a:t> </a:t>
            </a:r>
            <a:br>
              <a:rPr lang="en-US" altLang="zh-TW" dirty="0"/>
            </a:br>
            <a:r>
              <a:rPr lang="en-US" altLang="zh-TW" dirty="0"/>
              <a:t>Blind Man Goes Down the Mountain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65618E-B13A-F8B2-5FF5-215B78F1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25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12290" name="Picture 2" descr="深度學習講中文] 簡單解釋梯度下降法(Gradient Descent) | by 呂孟耿| Medium">
            <a:extLst>
              <a:ext uri="{FF2B5EF4-FFF2-40B4-BE49-F238E27FC236}">
                <a16:creationId xmlns:a16="http://schemas.microsoft.com/office/drawing/2014/main" id="{7E6F33F4-2490-9A26-831C-3FDB3CB018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74" b="3486"/>
          <a:stretch>
            <a:fillRect/>
          </a:stretch>
        </p:blipFill>
        <p:spPr bwMode="auto">
          <a:xfrm>
            <a:off x="500968" y="2132856"/>
            <a:ext cx="7981647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F7278C43-379C-7F22-1A95-F43D2010E2D6}"/>
              </a:ext>
            </a:extLst>
          </p:cNvPr>
          <p:cNvGrpSpPr/>
          <p:nvPr/>
        </p:nvGrpSpPr>
        <p:grpSpPr>
          <a:xfrm>
            <a:off x="983432" y="2139697"/>
            <a:ext cx="7344816" cy="2012458"/>
            <a:chOff x="983432" y="1753514"/>
            <a:chExt cx="7344816" cy="201245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114A878-E925-B111-EC45-FD66C04A13FE}"/>
                </a:ext>
              </a:extLst>
            </p:cNvPr>
            <p:cNvSpPr/>
            <p:nvPr/>
          </p:nvSpPr>
          <p:spPr bwMode="auto">
            <a:xfrm>
              <a:off x="983432" y="2060848"/>
              <a:ext cx="698477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BD62EEA-0A1D-BF24-5BB3-630D7EEDCB33}"/>
                </a:ext>
              </a:extLst>
            </p:cNvPr>
            <p:cNvSpPr/>
            <p:nvPr/>
          </p:nvSpPr>
          <p:spPr bwMode="auto">
            <a:xfrm>
              <a:off x="6023992" y="1753514"/>
              <a:ext cx="2304256" cy="451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63296AE-C381-228E-3C39-62427FE9EB3E}"/>
                </a:ext>
              </a:extLst>
            </p:cNvPr>
            <p:cNvSpPr/>
            <p:nvPr/>
          </p:nvSpPr>
          <p:spPr bwMode="auto">
            <a:xfrm>
              <a:off x="2171564" y="2640678"/>
              <a:ext cx="4428492" cy="451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609DF89-06BB-260B-9171-DABCE9B72184}"/>
                </a:ext>
              </a:extLst>
            </p:cNvPr>
            <p:cNvSpPr/>
            <p:nvPr/>
          </p:nvSpPr>
          <p:spPr bwMode="auto">
            <a:xfrm>
              <a:off x="2301450" y="3068959"/>
              <a:ext cx="5882781" cy="6970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1" lang="zh-TW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1" name="圖片 10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B707E84A-0055-EBDB-7244-EBB941FA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296" y="1914708"/>
            <a:ext cx="8211696" cy="118126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593413FB-05E6-F9ED-6613-C9F8FE6E3B91}"/>
              </a:ext>
            </a:extLst>
          </p:cNvPr>
          <p:cNvSpPr txBox="1"/>
          <p:nvPr/>
        </p:nvSpPr>
        <p:spPr>
          <a:xfrm>
            <a:off x="3717967" y="1547500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FF0000"/>
                </a:solidFill>
              </a:rPr>
              <a:t>為何用減號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078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B68042-FA17-BE5B-447F-E6F82169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陷入局部最佳解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792DDC-717C-8180-BCCB-5D6C61527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360"/>
              </a:lnSpc>
            </a:pPr>
            <a:r>
              <a:rPr lang="zh-TW" altLang="en-US" dirty="0"/>
              <a:t>陷入局部佳解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zh-TW" altLang="en-US" dirty="0"/>
              <a:t>圖中右側有好幾個坑洞。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zh-TW" altLang="en-US" dirty="0"/>
              <a:t>如果猴子的步伐太小，牠可能會掉進左邊比較淺的坑（局部最小值）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zh-TW" altLang="en-US" dirty="0"/>
              <a:t>沒辦法到達最右邊最深的地方（全域最小值 </a:t>
            </a:r>
            <a:r>
              <a:rPr lang="en-US" altLang="zh-TW" dirty="0"/>
              <a:t>Global Minimum</a:t>
            </a:r>
            <a:r>
              <a:rPr lang="zh-TW" altLang="en-US" dirty="0"/>
              <a:t>）。</a:t>
            </a:r>
            <a:endParaRPr lang="en-US" altLang="zh-TW" dirty="0"/>
          </a:p>
          <a:p>
            <a:pPr>
              <a:lnSpc>
                <a:spcPts val="3360"/>
              </a:lnSpc>
            </a:pPr>
            <a:endParaRPr lang="en-US" altLang="zh-TW" dirty="0"/>
          </a:p>
          <a:p>
            <a:pPr>
              <a:lnSpc>
                <a:spcPts val="3360"/>
              </a:lnSpc>
            </a:pPr>
            <a:r>
              <a:rPr lang="zh-TW" altLang="en-US" dirty="0"/>
              <a:t>學習率的重要性：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zh-TW" altLang="en-US" dirty="0"/>
              <a:t>學習率太小：猴子走得太慢，要下山得花一輩子。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zh-TW" altLang="en-US" dirty="0"/>
              <a:t>學習率太大：猴子可能會用力過猛，直接跳過山谷，翻到對面的山坡上，導致模型永遠無法收斂。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3616A7-6A5E-4DA1-1BDB-27C63A4B8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975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C0AF69-C60B-10E0-C04F-A4D3972E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Introduction to Differential Calculus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微分簡介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endParaRPr lang="en-US" altLang="zh-TW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4771A49-71E2-72B8-E8DD-8747CA593F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微分是在問：當 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TW" altLang="en-US" dirty="0"/>
                  <a:t>改變一點點時，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TW" altLang="en-US" dirty="0"/>
                  <a:t> 會改變多少？</a:t>
                </a:r>
              </a:p>
              <a:p>
                <a:r>
                  <a:rPr lang="zh-TW" altLang="en-US" dirty="0"/>
                  <a:t>也就是「變化率」或「斜率」。</a:t>
                </a:r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4771A49-71E2-72B8-E8DD-8747CA593F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17" t="-13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3A30E7-FDE4-FF86-BD1D-0C8104D9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27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2A580798-22C5-9721-3022-2108FF632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813" y="2852936"/>
            <a:ext cx="8192643" cy="28102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B68BA1B-E284-665C-6B87-2289417ED17F}"/>
              </a:ext>
            </a:extLst>
          </p:cNvPr>
          <p:cNvSpPr txBox="1"/>
          <p:nvPr/>
        </p:nvSpPr>
        <p:spPr>
          <a:xfrm>
            <a:off x="7245350" y="5113759"/>
            <a:ext cx="281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x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每增加 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，</a:t>
            </a:r>
            <a:r>
              <a:rPr lang="en-US" altLang="zh-TW" i="1" dirty="0">
                <a:solidFill>
                  <a:srgbClr val="FF0000"/>
                </a:solidFill>
              </a:rPr>
              <a:t>y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就增加 </a:t>
            </a:r>
            <a:r>
              <a:rPr lang="en-US" altLang="zh-TW" dirty="0">
                <a:solidFill>
                  <a:srgbClr val="FF0000"/>
                </a:solidFill>
              </a:rPr>
              <a:t>3)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755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59F192-00B2-E9BD-4101-FAE56E66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Basic Concepts of Differentiation </a:t>
            </a:r>
            <a:r>
              <a:rPr lang="en-US" altLang="zh-TW" sz="2800" dirty="0"/>
              <a:t>(</a:t>
            </a:r>
            <a:r>
              <a:rPr lang="zh-TW" altLang="en-US" sz="2800" dirty="0"/>
              <a:t>微分基礎概念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334413-7A68-C9D9-E080-859C6BD0F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03" y="1524001"/>
            <a:ext cx="5160573" cy="4608513"/>
          </a:xfrm>
        </p:spPr>
        <p:txBody>
          <a:bodyPr/>
          <a:lstStyle/>
          <a:p>
            <a:r>
              <a:rPr lang="en-US" altLang="zh-TW" dirty="0"/>
              <a:t>Second-degree Function</a:t>
            </a:r>
            <a:r>
              <a:rPr lang="zh-TW" altLang="en-US" dirty="0"/>
              <a:t> </a:t>
            </a:r>
            <a:r>
              <a:rPr lang="en-US" altLang="zh-TW" sz="1600" dirty="0"/>
              <a:t>(</a:t>
            </a:r>
            <a:r>
              <a:rPr lang="zh-TW" altLang="en-US" sz="1600" dirty="0"/>
              <a:t>二次函式</a:t>
            </a:r>
            <a:r>
              <a:rPr lang="en-US" altLang="zh-TW" sz="1600" dirty="0"/>
              <a:t>)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en-US" altLang="zh-TW" sz="1000" dirty="0"/>
          </a:p>
          <a:p>
            <a:r>
              <a:rPr lang="en-US" altLang="zh-TW" dirty="0"/>
              <a:t>First-degree Function</a:t>
            </a:r>
            <a:r>
              <a:rPr lang="zh-TW" altLang="en-US" dirty="0"/>
              <a:t> </a:t>
            </a:r>
            <a:r>
              <a:rPr lang="en-US" altLang="zh-TW" sz="1600" dirty="0"/>
              <a:t>(</a:t>
            </a:r>
            <a:r>
              <a:rPr lang="zh-TW" altLang="en-US" sz="1600" dirty="0"/>
              <a:t>一次函式</a:t>
            </a:r>
            <a:r>
              <a:rPr lang="en-US" altLang="zh-TW" sz="1600" dirty="0"/>
              <a:t>)</a:t>
            </a:r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E8A668-A4F7-4387-75C9-5DB5C785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28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8" name="圖片 7" descr="一張含有 文字, 字型, 白色, 收據 的圖片&#10;&#10;AI 產生的內容可能不正確。">
            <a:extLst>
              <a:ext uri="{FF2B5EF4-FFF2-40B4-BE49-F238E27FC236}">
                <a16:creationId xmlns:a16="http://schemas.microsoft.com/office/drawing/2014/main" id="{621BF55B-BD3B-BF47-33F5-C8C89880D7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47" t="29560"/>
          <a:stretch>
            <a:fillRect/>
          </a:stretch>
        </p:blipFill>
        <p:spPr>
          <a:xfrm>
            <a:off x="2507379" y="4316075"/>
            <a:ext cx="1068341" cy="1201157"/>
          </a:xfrm>
          <a:prstGeom prst="rect">
            <a:avLst/>
          </a:prstGeom>
          <a:ln>
            <a:noFill/>
          </a:ln>
        </p:spPr>
      </p:pic>
      <p:pic>
        <p:nvPicPr>
          <p:cNvPr id="9" name="圖片 8" descr="一張含有 文字, 字型, 白色, 筆跡 的圖片&#10;&#10;AI 產生的內容可能不正確。">
            <a:extLst>
              <a:ext uri="{FF2B5EF4-FFF2-40B4-BE49-F238E27FC236}">
                <a16:creationId xmlns:a16="http://schemas.microsoft.com/office/drawing/2014/main" id="{17EDB6D2-D813-8EA8-248D-1DC5624F99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527" t="31844" r="1934"/>
          <a:stretch>
            <a:fillRect/>
          </a:stretch>
        </p:blipFill>
        <p:spPr>
          <a:xfrm>
            <a:off x="1271464" y="2194704"/>
            <a:ext cx="1068341" cy="1201157"/>
          </a:xfrm>
          <a:prstGeom prst="rect">
            <a:avLst/>
          </a:prstGeom>
          <a:ln>
            <a:noFill/>
          </a:ln>
        </p:spPr>
      </p:pic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83A3E86-7283-D309-CAAB-F7759FD9AE78}"/>
              </a:ext>
            </a:extLst>
          </p:cNvPr>
          <p:cNvSpPr txBox="1">
            <a:spLocks/>
          </p:cNvSpPr>
          <p:nvPr/>
        </p:nvSpPr>
        <p:spPr bwMode="auto">
          <a:xfrm>
            <a:off x="6096000" y="1505743"/>
            <a:ext cx="5829301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2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dirty="0"/>
              <a:t>Constant Function</a:t>
            </a:r>
            <a:r>
              <a:rPr lang="zh-TW" altLang="en-US" dirty="0"/>
              <a:t> </a:t>
            </a:r>
            <a:r>
              <a:rPr lang="en-US" altLang="zh-TW" sz="1600" dirty="0"/>
              <a:t>(</a:t>
            </a:r>
            <a:r>
              <a:rPr lang="zh-TW" altLang="en-US" sz="1600" dirty="0"/>
              <a:t>常數函式</a:t>
            </a:r>
            <a:r>
              <a:rPr lang="en-US" altLang="zh-TW" sz="1600" dirty="0"/>
              <a:t>)</a:t>
            </a:r>
          </a:p>
          <a:p>
            <a:endParaRPr lang="en-US" altLang="zh-TW" kern="0" dirty="0"/>
          </a:p>
          <a:p>
            <a:pPr lvl="1"/>
            <a:endParaRPr lang="en-US" altLang="zh-TW" kern="0" dirty="0"/>
          </a:p>
          <a:p>
            <a:endParaRPr lang="en-US" altLang="zh-TW" kern="0" dirty="0"/>
          </a:p>
          <a:p>
            <a:endParaRPr lang="en-US" altLang="zh-TW" sz="1000" kern="0" dirty="0"/>
          </a:p>
          <a:p>
            <a:r>
              <a:rPr lang="en-US" altLang="zh-TW" dirty="0"/>
              <a:t>Polynomial Function</a:t>
            </a:r>
            <a:r>
              <a:rPr lang="zh-TW" altLang="en-US" dirty="0"/>
              <a:t> </a:t>
            </a:r>
            <a:r>
              <a:rPr lang="en-US" altLang="zh-TW" sz="1600" dirty="0"/>
              <a:t>(</a:t>
            </a:r>
            <a:r>
              <a:rPr lang="zh-TW" altLang="en-US" sz="1600" dirty="0"/>
              <a:t>多項式函式</a:t>
            </a:r>
            <a:r>
              <a:rPr lang="en-US" altLang="zh-TW" sz="1600" dirty="0"/>
              <a:t>)</a:t>
            </a:r>
            <a:endParaRPr lang="zh-TW" altLang="en-US" sz="1600" dirty="0"/>
          </a:p>
        </p:txBody>
      </p:sp>
      <p:pic>
        <p:nvPicPr>
          <p:cNvPr id="12" name="圖片 11" descr="一張含有 字型, 螢幕擷取畫面, 文字, 設計 的圖片&#10;&#10;AI 產生的內容可能不正確。">
            <a:extLst>
              <a:ext uri="{FF2B5EF4-FFF2-40B4-BE49-F238E27FC236}">
                <a16:creationId xmlns:a16="http://schemas.microsoft.com/office/drawing/2014/main" id="{84EAE5CE-19B8-9500-8A64-42373761A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335" y="2194704"/>
            <a:ext cx="1152128" cy="1152128"/>
          </a:xfrm>
          <a:prstGeom prst="rect">
            <a:avLst/>
          </a:prstGeom>
        </p:spPr>
      </p:pic>
      <p:pic>
        <p:nvPicPr>
          <p:cNvPr id="14" name="圖片 13" descr="一張含有 字型, 螢幕擷取畫面, 文字, 數字 的圖片&#10;&#10;AI 產生的內容可能不正確。">
            <a:extLst>
              <a:ext uri="{FF2B5EF4-FFF2-40B4-BE49-F238E27FC236}">
                <a16:creationId xmlns:a16="http://schemas.microsoft.com/office/drawing/2014/main" id="{EC33CA50-F42D-8682-FF11-BBE2B5783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145" y="4313768"/>
            <a:ext cx="1148761" cy="120346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D0AE7F2-B452-42F6-716F-D1F0F9B6FB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049" y="4264784"/>
            <a:ext cx="2359347" cy="460360"/>
          </a:xfrm>
          <a:prstGeom prst="rect">
            <a:avLst/>
          </a:prstGeom>
        </p:spPr>
      </p:pic>
      <p:pic>
        <p:nvPicPr>
          <p:cNvPr id="18" name="圖片 17" descr="一張含有 字型, 數字, 文字, 時鐘 的圖片&#10;&#10;AI 產生的內容可能不正確。">
            <a:extLst>
              <a:ext uri="{FF2B5EF4-FFF2-40B4-BE49-F238E27FC236}">
                <a16:creationId xmlns:a16="http://schemas.microsoft.com/office/drawing/2014/main" id="{DED25603-CDC9-EB0A-A44C-4A8CF1B1CA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048" y="4776112"/>
            <a:ext cx="1588509" cy="69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4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C0DA1-25A5-B1D3-E042-C598B602F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24E3D5-89EA-C52C-500C-0B66C6617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Basic Concepts of Differentiation </a:t>
            </a:r>
            <a:r>
              <a:rPr lang="en-US" altLang="zh-TW" sz="2800" dirty="0"/>
              <a:t>(</a:t>
            </a:r>
            <a:r>
              <a:rPr lang="zh-TW" altLang="en-US" sz="2800" dirty="0"/>
              <a:t>微分基礎概念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FD8747-DC03-93FC-2660-34A884F18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29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35D402FC-AC66-6142-3F27-033BFE746113}"/>
              </a:ext>
            </a:extLst>
          </p:cNvPr>
          <p:cNvSpPr txBox="1">
            <a:spLocks/>
          </p:cNvSpPr>
          <p:nvPr/>
        </p:nvSpPr>
        <p:spPr bwMode="auto">
          <a:xfrm>
            <a:off x="719403" y="1526348"/>
            <a:ext cx="5376597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2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dirty="0"/>
              <a:t>Exponential Function</a:t>
            </a:r>
            <a:r>
              <a:rPr lang="zh-TW" altLang="en-US" dirty="0"/>
              <a:t> </a:t>
            </a:r>
            <a:r>
              <a:rPr lang="en-US" altLang="zh-TW" sz="1600" dirty="0"/>
              <a:t>(</a:t>
            </a:r>
            <a:r>
              <a:rPr lang="zh-TW" altLang="en-US" sz="1600" dirty="0"/>
              <a:t>指數函數</a:t>
            </a:r>
            <a:r>
              <a:rPr lang="en-US" altLang="zh-TW" sz="1600" dirty="0"/>
              <a:t>)</a:t>
            </a:r>
          </a:p>
          <a:p>
            <a:endParaRPr lang="en-US" altLang="zh-TW" sz="1600" dirty="0"/>
          </a:p>
          <a:p>
            <a:pPr lvl="1"/>
            <a:endParaRPr lang="en-US" altLang="zh-TW" kern="0" dirty="0"/>
          </a:p>
          <a:p>
            <a:endParaRPr lang="en-US" altLang="zh-TW" kern="0" dirty="0"/>
          </a:p>
          <a:p>
            <a:endParaRPr lang="en-US" altLang="zh-TW" sz="1000" kern="0" dirty="0"/>
          </a:p>
          <a:p>
            <a:r>
              <a:rPr lang="en-US" altLang="zh-TW" dirty="0"/>
              <a:t>Natural Exponential Function</a:t>
            </a:r>
            <a:br>
              <a:rPr lang="en-US" altLang="zh-TW" dirty="0"/>
            </a:br>
            <a:r>
              <a:rPr lang="en-US" altLang="zh-TW" sz="1600" dirty="0"/>
              <a:t>(</a:t>
            </a:r>
            <a:r>
              <a:rPr lang="zh-TW" altLang="en-US" sz="1600" dirty="0"/>
              <a:t>自然指數函數</a:t>
            </a:r>
            <a:r>
              <a:rPr lang="en-US" altLang="zh-TW" sz="1600" dirty="0"/>
              <a:t>)</a:t>
            </a:r>
          </a:p>
          <a:p>
            <a:endParaRPr lang="en-US" altLang="zh-TW" dirty="0"/>
          </a:p>
        </p:txBody>
      </p:sp>
      <p:pic>
        <p:nvPicPr>
          <p:cNvPr id="21" name="圖片 20" descr="一張含有 字型, 螢幕擷取畫面, 數字, 圖表 的圖片&#10;&#10;AI 產生的內容可能不正確。">
            <a:extLst>
              <a:ext uri="{FF2B5EF4-FFF2-40B4-BE49-F238E27FC236}">
                <a16:creationId xmlns:a16="http://schemas.microsoft.com/office/drawing/2014/main" id="{1AA89DB1-3A1B-1979-B723-AC2DBF4BC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4422388"/>
            <a:ext cx="1171286" cy="1238860"/>
          </a:xfrm>
          <a:prstGeom prst="rect">
            <a:avLst/>
          </a:prstGeom>
        </p:spPr>
      </p:pic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FDE13128-070A-7C3E-FBF9-A475933011AF}"/>
              </a:ext>
            </a:extLst>
          </p:cNvPr>
          <p:cNvSpPr txBox="1">
            <a:spLocks/>
          </p:cNvSpPr>
          <p:nvPr/>
        </p:nvSpPr>
        <p:spPr bwMode="auto">
          <a:xfrm>
            <a:off x="6096000" y="1499641"/>
            <a:ext cx="6045015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2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dirty="0"/>
              <a:t>Logarithmic Function</a:t>
            </a:r>
            <a:r>
              <a:rPr lang="zh-TW" altLang="en-US" dirty="0"/>
              <a:t> </a:t>
            </a:r>
            <a:r>
              <a:rPr lang="en-US" altLang="zh-TW" sz="1600" dirty="0"/>
              <a:t>(</a:t>
            </a:r>
            <a:r>
              <a:rPr lang="zh-TW" altLang="en-US" sz="1600" dirty="0"/>
              <a:t>對數函數</a:t>
            </a:r>
            <a:r>
              <a:rPr lang="en-US" altLang="zh-TW" sz="1600" dirty="0"/>
              <a:t>)</a:t>
            </a:r>
          </a:p>
          <a:p>
            <a:endParaRPr lang="en-US" altLang="zh-TW" sz="1600" dirty="0"/>
          </a:p>
          <a:p>
            <a:endParaRPr lang="en-US" altLang="zh-TW" kern="0" dirty="0"/>
          </a:p>
          <a:p>
            <a:pPr marL="457200" lvl="1" indent="0">
              <a:buNone/>
            </a:pPr>
            <a:endParaRPr lang="en-US" altLang="zh-TW" kern="0" dirty="0"/>
          </a:p>
          <a:p>
            <a:endParaRPr lang="en-US" altLang="zh-TW" sz="1000" dirty="0"/>
          </a:p>
          <a:p>
            <a:r>
              <a:rPr lang="en-US" altLang="zh-TW" dirty="0"/>
              <a:t>Natural Logarithmic Function</a:t>
            </a:r>
            <a:r>
              <a:rPr lang="zh-TW" altLang="en-US" dirty="0"/>
              <a:t> </a:t>
            </a:r>
            <a:br>
              <a:rPr lang="en-US" altLang="zh-TW" dirty="0"/>
            </a:br>
            <a:r>
              <a:rPr lang="en-US" altLang="zh-TW" sz="1600" dirty="0"/>
              <a:t>(</a:t>
            </a:r>
            <a:r>
              <a:rPr lang="zh-TW" altLang="en-US" sz="1600" dirty="0"/>
              <a:t>自然對數函式</a:t>
            </a:r>
            <a:r>
              <a:rPr lang="en-US" altLang="zh-TW" sz="1600" dirty="0"/>
              <a:t>)</a:t>
            </a:r>
            <a:endParaRPr lang="zh-TW" altLang="en-US" sz="1600" dirty="0"/>
          </a:p>
          <a:p>
            <a:endParaRPr lang="en-US" altLang="zh-TW" sz="1600" dirty="0"/>
          </a:p>
          <a:p>
            <a:endParaRPr lang="en-US" altLang="zh-TW" sz="1000" kern="0" dirty="0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3546DDE0-D3B9-85B4-E7B7-2D050DDEA2CB}"/>
              </a:ext>
            </a:extLst>
          </p:cNvPr>
          <p:cNvGrpSpPr/>
          <p:nvPr/>
        </p:nvGrpSpPr>
        <p:grpSpPr>
          <a:xfrm>
            <a:off x="8611300" y="4489676"/>
            <a:ext cx="2237228" cy="1008350"/>
            <a:chOff x="6275794" y="4581128"/>
            <a:chExt cx="2237228" cy="1008350"/>
          </a:xfrm>
        </p:grpSpPr>
        <p:pic>
          <p:nvPicPr>
            <p:cNvPr id="24" name="圖片 23" descr="一張含有 文字, 字型, 螢幕擷取畫面, 白色 的圖片&#10;&#10;AI 產生的內容可能不正確。">
              <a:extLst>
                <a:ext uri="{FF2B5EF4-FFF2-40B4-BE49-F238E27FC236}">
                  <a16:creationId xmlns:a16="http://schemas.microsoft.com/office/drawing/2014/main" id="{69E21EFD-BEFF-F480-043C-9E1A596F1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2763" r="34373" b="87110"/>
            <a:stretch>
              <a:fillRect/>
            </a:stretch>
          </p:blipFill>
          <p:spPr>
            <a:xfrm>
              <a:off x="6275794" y="4581128"/>
              <a:ext cx="504056" cy="273841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255FD7AC-2141-BA01-6114-EEA974078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2617" r="8235" b="11612"/>
            <a:stretch>
              <a:fillRect/>
            </a:stretch>
          </p:blipFill>
          <p:spPr>
            <a:xfrm>
              <a:off x="6839857" y="4581128"/>
              <a:ext cx="1673165" cy="303126"/>
            </a:xfrm>
            <a:prstGeom prst="rect">
              <a:avLst/>
            </a:prstGeom>
          </p:spPr>
        </p:pic>
        <p:pic>
          <p:nvPicPr>
            <p:cNvPr id="29" name="圖片 28" descr="一張含有 文字, 字型, 螢幕擷取畫面, 白色 的圖片&#10;&#10;AI 產生的內容可能不正確。">
              <a:extLst>
                <a:ext uri="{FF2B5EF4-FFF2-40B4-BE49-F238E27FC236}">
                  <a16:creationId xmlns:a16="http://schemas.microsoft.com/office/drawing/2014/main" id="{849D03B1-00E8-F963-6EAD-C7BA88E4F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2812"/>
            <a:stretch>
              <a:fillRect/>
            </a:stretch>
          </p:blipFill>
          <p:spPr>
            <a:xfrm>
              <a:off x="6449239" y="5224349"/>
              <a:ext cx="1533739" cy="365129"/>
            </a:xfrm>
            <a:prstGeom prst="rect">
              <a:avLst/>
            </a:prstGeom>
          </p:spPr>
        </p:pic>
        <p:pic>
          <p:nvPicPr>
            <p:cNvPr id="30" name="圖片 29" descr="一張含有 文字, 字型, 螢幕擷取畫面, 白色 的圖片&#10;&#10;AI 產生的內容可能不正確。">
              <a:extLst>
                <a:ext uri="{FF2B5EF4-FFF2-40B4-BE49-F238E27FC236}">
                  <a16:creationId xmlns:a16="http://schemas.microsoft.com/office/drawing/2014/main" id="{0EC9189E-7A8D-37B4-E397-80CD79508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3980" b="41684"/>
            <a:stretch>
              <a:fillRect/>
            </a:stretch>
          </p:blipFill>
          <p:spPr>
            <a:xfrm>
              <a:off x="6507131" y="4951665"/>
              <a:ext cx="1533739" cy="304559"/>
            </a:xfrm>
            <a:prstGeom prst="rect">
              <a:avLst/>
            </a:prstGeom>
          </p:spPr>
        </p:pic>
      </p:grpSp>
      <p:pic>
        <p:nvPicPr>
          <p:cNvPr id="32" name="圖片 31" descr="一張含有 字型, 螢幕擷取畫面, 數字, 圖表 的圖片&#10;&#10;AI 產生的內容可能不正確。">
            <a:extLst>
              <a:ext uri="{FF2B5EF4-FFF2-40B4-BE49-F238E27FC236}">
                <a16:creationId xmlns:a16="http://schemas.microsoft.com/office/drawing/2014/main" id="{CD5CB939-05E1-ED77-E09B-82140BC83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096" y="4422388"/>
            <a:ext cx="1333414" cy="1142926"/>
          </a:xfrm>
          <a:prstGeom prst="rect">
            <a:avLst/>
          </a:prstGeom>
        </p:spPr>
      </p:pic>
      <p:pic>
        <p:nvPicPr>
          <p:cNvPr id="7" name="圖片 6" descr="一張含有 字型, 文字, 印刷術, 白色 的圖片&#10;&#10;AI 產生的內容可能不正確。">
            <a:extLst>
              <a:ext uri="{FF2B5EF4-FFF2-40B4-BE49-F238E27FC236}">
                <a16:creationId xmlns:a16="http://schemas.microsoft.com/office/drawing/2014/main" id="{E0A43474-4AD3-8FEC-AFC0-858A05CF07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012" y="2293838"/>
            <a:ext cx="3386934" cy="631106"/>
          </a:xfrm>
          <a:prstGeom prst="rect">
            <a:avLst/>
          </a:prstGeom>
        </p:spPr>
      </p:pic>
      <p:pic>
        <p:nvPicPr>
          <p:cNvPr id="13" name="圖片 12" descr="一張含有 字型, 文字, 行, 白色 的圖片&#10;&#10;AI 產生的內容可能不正確。">
            <a:extLst>
              <a:ext uri="{FF2B5EF4-FFF2-40B4-BE49-F238E27FC236}">
                <a16:creationId xmlns:a16="http://schemas.microsoft.com/office/drawing/2014/main" id="{F82E99B6-EFBE-1519-D879-285F58FBA5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7561" y="2285607"/>
            <a:ext cx="4714367" cy="73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57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6925DD-47DF-D54E-9C60-E59288BC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Differentiation of Logarithm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對數的微分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6" name="內容版面配置區 5" descr="一張含有 文字, 字型, 白色, 收據 的圖片&#10;&#10;AI 產生的內容可能不正確。">
            <a:extLst>
              <a:ext uri="{FF2B5EF4-FFF2-40B4-BE49-F238E27FC236}">
                <a16:creationId xmlns:a16="http://schemas.microsoft.com/office/drawing/2014/main" id="{FDE88F2D-2BE4-2F32-98D9-3DC3A97BA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99456" y="1628800"/>
            <a:ext cx="8136904" cy="3023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9099D6-D28C-520F-8EC7-0B1BA777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8" name="圖片 7" descr="一張含有 文字, 收據, 字型, 白色 的圖片&#10;&#10;AI 產生的內容可能不正確。">
            <a:extLst>
              <a:ext uri="{FF2B5EF4-FFF2-40B4-BE49-F238E27FC236}">
                <a16:creationId xmlns:a16="http://schemas.microsoft.com/office/drawing/2014/main" id="{7F36536A-7C34-6DD0-C04F-07B3526A8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81" y="5100597"/>
            <a:ext cx="8268854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06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BE90F3-6C34-CC4E-8852-6E503BBD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Introduction to Partial Differentiation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偏微分簡介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C56EAA-3C6D-B769-175C-BEB2BD38E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03" y="1524001"/>
            <a:ext cx="11713301" cy="4608513"/>
          </a:xfrm>
        </p:spPr>
        <p:txBody>
          <a:bodyPr/>
          <a:lstStyle/>
          <a:p>
            <a:r>
              <a:rPr lang="zh-TW" altLang="en-US" dirty="0"/>
              <a:t>式子內有多個變數，一次只看一個變數的影響，假設其他變數不會動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3123DA-CD75-C8E8-4149-558D841F4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31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8" name="圖片 7" descr="一張含有 文字, 螢幕擷取畫面, 字型, 筆跡 的圖片&#10;&#10;AI 產生的內容可能不正確。">
            <a:extLst>
              <a:ext uri="{FF2B5EF4-FFF2-40B4-BE49-F238E27FC236}">
                <a16:creationId xmlns:a16="http://schemas.microsoft.com/office/drawing/2014/main" id="{FE735488-CCBC-9765-5A4F-FF1B4286A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96" y="2818911"/>
            <a:ext cx="5334744" cy="35056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圖片 9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4CE85C91-4540-F228-E536-15594B743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13" y="2824361"/>
            <a:ext cx="5077534" cy="22196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6321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01555A-ED68-C7F6-5CCF-22B430DED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Differentiation</a:t>
            </a:r>
            <a:r>
              <a:rPr lang="zh-TW" altLang="en-US" dirty="0"/>
              <a:t> </a:t>
            </a:r>
            <a:r>
              <a:rPr lang="en-US" altLang="zh-TW" dirty="0"/>
              <a:t>vs</a:t>
            </a:r>
            <a:r>
              <a:rPr lang="zh-TW" altLang="en-US" dirty="0"/>
              <a:t> </a:t>
            </a:r>
            <a:r>
              <a:rPr lang="en-US" altLang="zh-TW" dirty="0"/>
              <a:t>Partial Differentiation</a:t>
            </a:r>
            <a:r>
              <a:rPr lang="zh-TW" altLang="en-US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微分 </a:t>
            </a:r>
            <a:r>
              <a:rPr lang="en-US" altLang="zh-TW" sz="2800" dirty="0"/>
              <a:t>vs </a:t>
            </a:r>
            <a:r>
              <a:rPr lang="zh-TW" altLang="en-US" sz="2800" dirty="0"/>
              <a:t>偏微分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1EC696-7DF6-CADE-27D6-D1621608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32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F6C2955-C147-0B6A-B8FE-BEB5E7CF4B2C}"/>
              </a:ext>
            </a:extLst>
          </p:cNvPr>
          <p:cNvSpPr txBox="1">
            <a:spLocks/>
          </p:cNvSpPr>
          <p:nvPr/>
        </p:nvSpPr>
        <p:spPr bwMode="auto">
          <a:xfrm>
            <a:off x="719403" y="1524001"/>
            <a:ext cx="11220715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2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dirty="0"/>
              <a:t>Differentiation</a:t>
            </a:r>
            <a:r>
              <a:rPr lang="zh-TW" altLang="en-US" dirty="0"/>
              <a:t> </a:t>
            </a:r>
            <a:r>
              <a:rPr lang="en-US" altLang="zh-TW" sz="1600" dirty="0"/>
              <a:t>(</a:t>
            </a:r>
            <a:r>
              <a:rPr lang="zh-TW" altLang="en-US" sz="1600" dirty="0">
                <a:sym typeface="Wingdings" panose="05000000000000000000" pitchFamily="2" charset="2"/>
              </a:rPr>
              <a:t>微分</a:t>
            </a:r>
            <a:r>
              <a:rPr lang="en-US" altLang="zh-TW" sz="1600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zh-TW" altLang="en-US" kern="0" dirty="0">
                <a:sym typeface="Wingdings" panose="05000000000000000000" pitchFamily="2" charset="2"/>
              </a:rPr>
              <a:t>變數數量：</a:t>
            </a:r>
            <a:r>
              <a:rPr lang="en-US" altLang="zh-TW" kern="0" dirty="0">
                <a:sym typeface="Wingdings" panose="05000000000000000000" pitchFamily="2" charset="2"/>
              </a:rPr>
              <a:t>1</a:t>
            </a:r>
            <a:r>
              <a:rPr lang="zh-TW" altLang="en-US" kern="0" dirty="0">
                <a:sym typeface="Wingdings" panose="05000000000000000000" pitchFamily="2" charset="2"/>
              </a:rPr>
              <a:t>個</a:t>
            </a:r>
            <a:endParaRPr lang="en-US" altLang="zh-TW" kern="0" dirty="0">
              <a:sym typeface="Wingdings" panose="05000000000000000000" pitchFamily="2" charset="2"/>
            </a:endParaRPr>
          </a:p>
          <a:p>
            <a:pPr lvl="1"/>
            <a:r>
              <a:rPr lang="zh-TW" altLang="en-US" kern="0" dirty="0">
                <a:sym typeface="Wingdings" panose="05000000000000000000" pitchFamily="2" charset="2"/>
              </a:rPr>
              <a:t>代表整體變化率</a:t>
            </a:r>
            <a:endParaRPr lang="en-US" altLang="zh-TW" kern="0" dirty="0">
              <a:sym typeface="Wingdings" panose="05000000000000000000" pitchFamily="2" charset="2"/>
            </a:endParaRPr>
          </a:p>
          <a:p>
            <a:endParaRPr lang="en-US" altLang="zh-TW" kern="0" dirty="0">
              <a:sym typeface="Wingdings" panose="05000000000000000000" pitchFamily="2" charset="2"/>
            </a:endParaRPr>
          </a:p>
          <a:p>
            <a:r>
              <a:rPr lang="en-US" altLang="zh-TW" dirty="0"/>
              <a:t>Partial Differentiation</a:t>
            </a:r>
            <a:r>
              <a:rPr lang="zh-TW" altLang="en-US" dirty="0"/>
              <a:t> </a:t>
            </a:r>
            <a:r>
              <a:rPr lang="en-US" altLang="zh-TW" sz="1600" dirty="0"/>
              <a:t>(</a:t>
            </a:r>
            <a:r>
              <a:rPr lang="zh-TW" altLang="en-US" sz="1600" dirty="0">
                <a:sym typeface="Wingdings" panose="05000000000000000000" pitchFamily="2" charset="2"/>
              </a:rPr>
              <a:t>偏微分</a:t>
            </a:r>
            <a:r>
              <a:rPr lang="en-US" altLang="zh-TW" sz="1600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zh-TW" altLang="en-US" kern="0" dirty="0">
                <a:sym typeface="Wingdings" panose="05000000000000000000" pitchFamily="2" charset="2"/>
              </a:rPr>
              <a:t>變數數量：多個</a:t>
            </a:r>
            <a:endParaRPr lang="en-US" altLang="zh-TW" kern="0" dirty="0">
              <a:sym typeface="Wingdings" panose="05000000000000000000" pitchFamily="2" charset="2"/>
            </a:endParaRPr>
          </a:p>
          <a:p>
            <a:pPr lvl="1"/>
            <a:r>
              <a:rPr lang="zh-TW" altLang="en-US" kern="0" dirty="0">
                <a:sym typeface="Wingdings" panose="05000000000000000000" pitchFamily="2" charset="2"/>
              </a:rPr>
              <a:t>代表單一方向變化率</a:t>
            </a:r>
            <a:endParaRPr lang="en-US" altLang="zh-TW" kern="0" dirty="0">
              <a:sym typeface="Wingdings" panose="05000000000000000000" pitchFamily="2" charset="2"/>
            </a:endParaRPr>
          </a:p>
          <a:p>
            <a:endParaRPr lang="en-US" altLang="zh-TW" kern="0" dirty="0">
              <a:sym typeface="Wingdings" panose="05000000000000000000" pitchFamily="2" charset="2"/>
            </a:endParaRPr>
          </a:p>
          <a:p>
            <a:endParaRPr lang="zh-TW" altLang="en-US" kern="0" dirty="0"/>
          </a:p>
        </p:txBody>
      </p:sp>
    </p:spTree>
    <p:extLst>
      <p:ext uri="{BB962C8B-B14F-4D97-AF65-F5344CB8AC3E}">
        <p14:creationId xmlns:p14="http://schemas.microsoft.com/office/powerpoint/2010/main" val="4175880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B58F9-3AFD-6393-FB9E-78CAA103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123CB2-C44D-B1B5-5568-9809C9D4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Chain Rule </a:t>
            </a:r>
            <a:r>
              <a:rPr lang="en-US" altLang="zh-TW" sz="2800" dirty="0"/>
              <a:t>(</a:t>
            </a:r>
            <a:r>
              <a:rPr lang="zh-TW" altLang="en-US" sz="2800" dirty="0"/>
              <a:t>連鎖律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9D9D90-DE77-4F63-A414-991C7D213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03" y="1524001"/>
            <a:ext cx="3936437" cy="4608513"/>
          </a:xfrm>
        </p:spPr>
        <p:txBody>
          <a:bodyPr/>
          <a:lstStyle/>
          <a:p>
            <a:r>
              <a:rPr lang="en-US" altLang="zh-TW" dirty="0"/>
              <a:t>z = 2x  </a:t>
            </a:r>
          </a:p>
          <a:p>
            <a:r>
              <a:rPr lang="en-US" altLang="zh-TW" dirty="0"/>
              <a:t>y = z</a:t>
            </a:r>
            <a:r>
              <a:rPr lang="en-US" altLang="zh-TW" baseline="30000" dirty="0"/>
              <a:t>2</a:t>
            </a:r>
          </a:p>
          <a:p>
            <a:endParaRPr lang="en-US" altLang="zh-TW" baseline="30000" dirty="0"/>
          </a:p>
          <a:p>
            <a:r>
              <a:rPr lang="en-US" altLang="zh-TW" dirty="0"/>
              <a:t>x </a:t>
            </a:r>
            <a:r>
              <a:rPr lang="en-US" altLang="zh-TW" dirty="0">
                <a:sym typeface="Wingdings" panose="05000000000000000000" pitchFamily="2" charset="2"/>
              </a:rPr>
              <a:t> z  y</a:t>
            </a: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r>
              <a:rPr lang="en-US" altLang="zh-TW" b="1" dirty="0">
                <a:sym typeface="Wingdings" panose="05000000000000000000" pitchFamily="2" charset="2"/>
              </a:rPr>
              <a:t>Chain Rule</a:t>
            </a: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4E34A1-59D6-393C-5137-85729CCC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33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3C7B6DD8-ECBD-47C8-95E6-263C298A6F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305" t="42887" b="8865"/>
          <a:stretch>
            <a:fillRect/>
          </a:stretch>
        </p:blipFill>
        <p:spPr>
          <a:xfrm>
            <a:off x="1127448" y="4437112"/>
            <a:ext cx="2548880" cy="1080120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C31EE3C-B137-B55C-AB31-272897CCEC9C}"/>
              </a:ext>
            </a:extLst>
          </p:cNvPr>
          <p:cNvSpPr txBox="1">
            <a:spLocks/>
          </p:cNvSpPr>
          <p:nvPr/>
        </p:nvSpPr>
        <p:spPr bwMode="auto">
          <a:xfrm>
            <a:off x="5111891" y="1524001"/>
            <a:ext cx="3936437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2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/>
              <a:t>z = 2x 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endParaRPr lang="en-US" altLang="zh-TW" kern="0" dirty="0"/>
          </a:p>
          <a:p>
            <a:r>
              <a:rPr lang="en-US" altLang="zh-TW" kern="0" dirty="0"/>
              <a:t>y = z</a:t>
            </a:r>
            <a:r>
              <a:rPr lang="en-US" altLang="zh-TW" kern="0" baseline="30000" dirty="0"/>
              <a:t>2</a:t>
            </a:r>
            <a:r>
              <a:rPr lang="en-US" altLang="zh-TW" dirty="0">
                <a:sym typeface="Wingdings" panose="05000000000000000000" pitchFamily="2" charset="2"/>
              </a:rPr>
              <a:t> </a:t>
            </a:r>
            <a:endParaRPr lang="en-US" altLang="zh-TW" kern="0" baseline="30000" dirty="0"/>
          </a:p>
          <a:p>
            <a:endParaRPr lang="en-US" altLang="zh-TW" kern="0" baseline="30000" dirty="0"/>
          </a:p>
          <a:p>
            <a:r>
              <a:rPr lang="en-US" altLang="zh-TW" kern="0" dirty="0"/>
              <a:t>x </a:t>
            </a:r>
            <a:r>
              <a:rPr lang="en-US" altLang="zh-TW" kern="0" dirty="0">
                <a:sym typeface="Wingdings" panose="05000000000000000000" pitchFamily="2" charset="2"/>
              </a:rPr>
              <a:t> z  y</a:t>
            </a:r>
          </a:p>
          <a:p>
            <a:endParaRPr lang="en-US" altLang="zh-TW" kern="0" dirty="0">
              <a:sym typeface="Wingdings" panose="05000000000000000000" pitchFamily="2" charset="2"/>
            </a:endParaRPr>
          </a:p>
          <a:p>
            <a:r>
              <a:rPr lang="en-US" altLang="zh-TW" b="1" kern="0" dirty="0">
                <a:sym typeface="Wingdings" panose="05000000000000000000" pitchFamily="2" charset="2"/>
              </a:rPr>
              <a:t>Chain Rule</a:t>
            </a:r>
          </a:p>
          <a:p>
            <a:endParaRPr lang="en-US" altLang="zh-TW" kern="0" dirty="0">
              <a:sym typeface="Wingdings" panose="05000000000000000000" pitchFamily="2" charset="2"/>
            </a:endParaRPr>
          </a:p>
          <a:p>
            <a:endParaRPr lang="zh-TW" altLang="en-US" kern="0" dirty="0"/>
          </a:p>
        </p:txBody>
      </p:sp>
      <p:pic>
        <p:nvPicPr>
          <p:cNvPr id="9" name="圖片 8" descr="一張含有 字型, 數字, 螢幕擷取畫面, 文字 的圖片&#10;&#10;AI 產生的內容可能不正確。">
            <a:extLst>
              <a:ext uri="{FF2B5EF4-FFF2-40B4-BE49-F238E27FC236}">
                <a16:creationId xmlns:a16="http://schemas.microsoft.com/office/drawing/2014/main" id="{CCAE9701-AE08-0CA2-476B-B667E353B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96" y="1412776"/>
            <a:ext cx="981212" cy="685896"/>
          </a:xfrm>
          <a:prstGeom prst="rect">
            <a:avLst/>
          </a:prstGeom>
        </p:spPr>
      </p:pic>
      <p:pic>
        <p:nvPicPr>
          <p:cNvPr id="11" name="圖片 10" descr="一張含有 字型, 印刷術, 文字, 數字 的圖片&#10;&#10;AI 產生的內容可能不正確。">
            <a:extLst>
              <a:ext uri="{FF2B5EF4-FFF2-40B4-BE49-F238E27FC236}">
                <a16:creationId xmlns:a16="http://schemas.microsoft.com/office/drawing/2014/main" id="{4BA741E7-4D58-78E1-FFA9-E4B8DEB2C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96" y="1988840"/>
            <a:ext cx="1019317" cy="685896"/>
          </a:xfrm>
          <a:prstGeom prst="rect">
            <a:avLst/>
          </a:prstGeom>
        </p:spPr>
      </p:pic>
      <p:pic>
        <p:nvPicPr>
          <p:cNvPr id="13" name="圖片 12" descr="一張含有 文字, 字型, 筆跡, 白色 的圖片&#10;&#10;AI 產生的內容可能不正確。">
            <a:extLst>
              <a:ext uri="{FF2B5EF4-FFF2-40B4-BE49-F238E27FC236}">
                <a16:creationId xmlns:a16="http://schemas.microsoft.com/office/drawing/2014/main" id="{A1A53713-94F8-5285-8B88-3B64ADD0E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949" y="4413077"/>
            <a:ext cx="4485303" cy="18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744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FD2042-6DE0-D040-F790-9B335EC3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Apply Chain Rule to</a:t>
            </a:r>
            <a:r>
              <a:rPr lang="zh-TW" altLang="en-US" dirty="0"/>
              <a:t> </a:t>
            </a:r>
            <a:r>
              <a:rPr lang="en-US" altLang="zh-TW" dirty="0"/>
              <a:t>Update Weights and Bias</a:t>
            </a:r>
            <a:br>
              <a:rPr lang="en-US" altLang="zh-TW" dirty="0"/>
            </a:br>
            <a:r>
              <a:rPr lang="en-US" altLang="zh-TW" sz="2800" dirty="0"/>
              <a:t>(</a:t>
            </a:r>
            <a:r>
              <a:rPr lang="zh-TW" altLang="en-US" sz="2800" dirty="0"/>
              <a:t>應用連鎖律於權重更新及偏移量更新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704CEB-4026-F05C-9916-9B9BD195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34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A19ACEF-B257-4F42-61C3-6B279C580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697"/>
          <a:stretch>
            <a:fillRect/>
          </a:stretch>
        </p:blipFill>
        <p:spPr>
          <a:xfrm>
            <a:off x="719404" y="1524001"/>
            <a:ext cx="8223810" cy="4116287"/>
          </a:xfrm>
          <a:prstGeom prst="rect">
            <a:avLst/>
          </a:prstGeom>
        </p:spPr>
      </p:pic>
      <p:pic>
        <p:nvPicPr>
          <p:cNvPr id="8" name="圖片 7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3F1321DE-C59B-DC44-6C71-33CD7C4E40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535"/>
          <a:stretch>
            <a:fillRect/>
          </a:stretch>
        </p:blipFill>
        <p:spPr>
          <a:xfrm>
            <a:off x="3287688" y="5796200"/>
            <a:ext cx="4925112" cy="349662"/>
          </a:xfrm>
          <a:prstGeom prst="rect">
            <a:avLst/>
          </a:prstGeom>
        </p:spPr>
      </p:pic>
      <p:pic>
        <p:nvPicPr>
          <p:cNvPr id="9" name="圖片 8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4B61FE79-3619-72BD-7A4E-7B8B3C5A90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74" t="60734" b="-1455"/>
          <a:stretch>
            <a:fillRect/>
          </a:stretch>
        </p:blipFill>
        <p:spPr>
          <a:xfrm>
            <a:off x="6579434" y="5617570"/>
            <a:ext cx="1966392" cy="663352"/>
          </a:xfrm>
          <a:prstGeom prst="rect">
            <a:avLst/>
          </a:prstGeom>
        </p:spPr>
      </p:pic>
      <p:pic>
        <p:nvPicPr>
          <p:cNvPr id="10" name="圖片 9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88963DF-E328-2A34-BBAC-0D1164DE2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008" t="86874" r="39102" b="-557"/>
          <a:stretch>
            <a:fillRect/>
          </a:stretch>
        </p:blipFill>
        <p:spPr>
          <a:xfrm>
            <a:off x="1199456" y="5640288"/>
            <a:ext cx="1800200" cy="68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95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057946-BB00-F4DD-300F-8C09A1BE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A Simple Example  for Backpropagation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46AF51-DCA1-6751-E601-B9E31C6A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35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611878-E2D3-64AE-D007-D5E7956E7CE6}"/>
              </a:ext>
            </a:extLst>
          </p:cNvPr>
          <p:cNvSpPr/>
          <p:nvPr/>
        </p:nvSpPr>
        <p:spPr bwMode="auto">
          <a:xfrm>
            <a:off x="3426371" y="2421810"/>
            <a:ext cx="1080120" cy="2879398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1" lang="zh-TW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D063793-12F2-55B5-766E-FF8362BDBCF0}"/>
              </a:ext>
            </a:extLst>
          </p:cNvPr>
          <p:cNvSpPr/>
          <p:nvPr/>
        </p:nvSpPr>
        <p:spPr bwMode="auto">
          <a:xfrm>
            <a:off x="3606431" y="2828365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1" lang="en-US" altLang="zh-TW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rPr>
              <a:t>x</a:t>
            </a:r>
            <a:r>
              <a:rPr kumimoji="1" lang="en-US" altLang="zh-TW" sz="2500" b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rPr>
              <a:t>1</a:t>
            </a:r>
            <a:endParaRPr kumimoji="1" lang="zh-TW" altLang="en-US" sz="2500" b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6E97809-469A-E21F-019A-7A609320B664}"/>
              </a:ext>
            </a:extLst>
          </p:cNvPr>
          <p:cNvSpPr/>
          <p:nvPr/>
        </p:nvSpPr>
        <p:spPr bwMode="auto">
          <a:xfrm>
            <a:off x="5746351" y="3548365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1" lang="zh-TW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5C6FB6-91D1-8B89-EA1B-4D5BD8790CA2}"/>
              </a:ext>
            </a:extLst>
          </p:cNvPr>
          <p:cNvSpPr/>
          <p:nvPr/>
        </p:nvSpPr>
        <p:spPr bwMode="auto">
          <a:xfrm>
            <a:off x="5566291" y="2432201"/>
            <a:ext cx="1080120" cy="2869007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1" lang="zh-TW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CC53D6-8954-FF94-7C50-9E50EEBC73F3}"/>
              </a:ext>
            </a:extLst>
          </p:cNvPr>
          <p:cNvSpPr/>
          <p:nvPr/>
        </p:nvSpPr>
        <p:spPr bwMode="auto">
          <a:xfrm>
            <a:off x="7824192" y="2421810"/>
            <a:ext cx="1080120" cy="2869007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1" lang="zh-TW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01AABBA8-944A-A7AA-CCA6-E1ECD2D61B29}"/>
              </a:ext>
            </a:extLst>
          </p:cNvPr>
          <p:cNvSpPr/>
          <p:nvPr/>
        </p:nvSpPr>
        <p:spPr bwMode="auto">
          <a:xfrm>
            <a:off x="3609708" y="4149080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1" lang="en-US" altLang="zh-TW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rPr>
              <a:t>x</a:t>
            </a:r>
            <a:r>
              <a:rPr kumimoji="1" lang="en-US" altLang="zh-TW" sz="2500" b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rPr>
              <a:t>2</a:t>
            </a:r>
            <a:endParaRPr kumimoji="1" lang="zh-TW" altLang="en-US" sz="2500" b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C1FB186E-B303-CC4F-5F42-6846C635696C}"/>
              </a:ext>
            </a:extLst>
          </p:cNvPr>
          <p:cNvSpPr/>
          <p:nvPr/>
        </p:nvSpPr>
        <p:spPr bwMode="auto">
          <a:xfrm>
            <a:off x="5736000" y="3476517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2500" i="1" dirty="0">
                <a:sym typeface="Symbol" panose="05050102010706020507" pitchFamily="18" charset="2"/>
              </a:rPr>
              <a:t>f</a:t>
            </a:r>
            <a:r>
              <a:rPr lang="en-US" altLang="zh-TW" sz="2500" dirty="0">
                <a:sym typeface="Symbol" panose="05050102010706020507" pitchFamily="18" charset="2"/>
              </a:rPr>
              <a:t>(.)</a:t>
            </a:r>
            <a:endParaRPr lang="zh-TW" altLang="en-US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橢圓 12">
                <a:extLst>
                  <a:ext uri="{FF2B5EF4-FFF2-40B4-BE49-F238E27FC236}">
                    <a16:creationId xmlns:a16="http://schemas.microsoft.com/office/drawing/2014/main" id="{3A7379B1-48ED-4B52-B0FE-0438E8FE1B84}"/>
                  </a:ext>
                </a:extLst>
              </p:cNvPr>
              <p:cNvSpPr/>
              <p:nvPr/>
            </p:nvSpPr>
            <p:spPr bwMode="auto">
              <a:xfrm>
                <a:off x="8017969" y="3476517"/>
                <a:ext cx="720000" cy="720000"/>
              </a:xfrm>
              <a:prstGeom prst="ellips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42900" indent="-342900" algn="ctr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500" b="0" i="0" smtClean="0"/>
                        <m:t> </m:t>
                      </m:r>
                    </m:oMath>
                  </m:oMathPara>
                </a14:m>
                <a:endParaRPr lang="en-US" altLang="zh-TW" sz="2500" i="0" dirty="0">
                  <a:latin typeface="Times New Roman" pitchFamily="18" charset="0"/>
                </a:endParaRPr>
              </a:p>
              <a:p>
                <a:pPr marL="342900" indent="-342900" algn="ctr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</a:pPr>
                <a:endParaRPr kumimoji="1" lang="zh-TW" altLang="en-US" sz="2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標楷體" pitchFamily="65" charset="-120"/>
                </a:endParaRPr>
              </a:p>
            </p:txBody>
          </p:sp>
        </mc:Choice>
        <mc:Fallback xmlns="">
          <p:sp>
            <p:nvSpPr>
              <p:cNvPr id="13" name="橢圓 12">
                <a:extLst>
                  <a:ext uri="{FF2B5EF4-FFF2-40B4-BE49-F238E27FC236}">
                    <a16:creationId xmlns:a16="http://schemas.microsoft.com/office/drawing/2014/main" id="{3A7379B1-48ED-4B52-B0FE-0438E8FE1B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17969" y="3476517"/>
                <a:ext cx="720000" cy="72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A33E1E59-4192-B75A-364E-00D35BCC4A82}"/>
              </a:ext>
            </a:extLst>
          </p:cNvPr>
          <p:cNvCxnSpPr>
            <a:stCxn id="6" idx="6"/>
            <a:endCxn id="12" idx="2"/>
          </p:cNvCxnSpPr>
          <p:nvPr/>
        </p:nvCxnSpPr>
        <p:spPr bwMode="auto">
          <a:xfrm>
            <a:off x="4326431" y="3188365"/>
            <a:ext cx="1409569" cy="648152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BDAC954B-22D7-D3FA-6C2D-E1F294DF53C3}"/>
              </a:ext>
            </a:extLst>
          </p:cNvPr>
          <p:cNvCxnSpPr>
            <a:stCxn id="10" idx="6"/>
            <a:endCxn id="12" idx="2"/>
          </p:cNvCxnSpPr>
          <p:nvPr/>
        </p:nvCxnSpPr>
        <p:spPr bwMode="auto">
          <a:xfrm flipV="1">
            <a:off x="4329708" y="3836517"/>
            <a:ext cx="1406292" cy="672563"/>
          </a:xfrm>
          <a:prstGeom prst="lin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15224ED1-EED4-71F9-D707-4E9EDEA94DAF}"/>
              </a:ext>
            </a:extLst>
          </p:cNvPr>
          <p:cNvCxnSpPr>
            <a:stCxn id="12" idx="6"/>
            <a:endCxn id="13" idx="2"/>
          </p:cNvCxnSpPr>
          <p:nvPr/>
        </p:nvCxnSpPr>
        <p:spPr bwMode="auto">
          <a:xfrm>
            <a:off x="6456000" y="3836517"/>
            <a:ext cx="1561969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B498EF6-CB5B-33CA-5838-5F0AD8760C58}"/>
              </a:ext>
            </a:extLst>
          </p:cNvPr>
          <p:cNvSpPr txBox="1"/>
          <p:nvPr/>
        </p:nvSpPr>
        <p:spPr>
          <a:xfrm>
            <a:off x="3108367" y="1916832"/>
            <a:ext cx="16914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/>
              <a:t>Input Layer</a:t>
            </a:r>
            <a:endParaRPr lang="zh-TW" altLang="en-US" sz="25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003CC3-EF53-680D-1496-CA89A7987A39}"/>
              </a:ext>
            </a:extLst>
          </p:cNvPr>
          <p:cNvSpPr txBox="1"/>
          <p:nvPr/>
        </p:nvSpPr>
        <p:spPr>
          <a:xfrm>
            <a:off x="7464152" y="1916832"/>
            <a:ext cx="19046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/>
              <a:t>Output Layer</a:t>
            </a:r>
            <a:endParaRPr lang="zh-TW" altLang="en-US" sz="25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A9B5542-451E-7306-058C-D6EE9F56C572}"/>
              </a:ext>
            </a:extLst>
          </p:cNvPr>
          <p:cNvSpPr txBox="1"/>
          <p:nvPr/>
        </p:nvSpPr>
        <p:spPr>
          <a:xfrm>
            <a:off x="5159896" y="1916832"/>
            <a:ext cx="195758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/>
              <a:t>Hidden Layer</a:t>
            </a:r>
            <a:endParaRPr lang="zh-TW" altLang="en-US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EA1336A-9987-8BD2-22D2-5179AE67401A}"/>
                  </a:ext>
                </a:extLst>
              </p:cNvPr>
              <p:cNvSpPr txBox="1"/>
              <p:nvPr/>
            </p:nvSpPr>
            <p:spPr>
              <a:xfrm>
                <a:off x="8246610" y="3645024"/>
                <a:ext cx="265137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500" b="0" i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EA1336A-9987-8BD2-22D2-5179AE674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610" y="3645024"/>
                <a:ext cx="265137" cy="3847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>
            <a:extLst>
              <a:ext uri="{FF2B5EF4-FFF2-40B4-BE49-F238E27FC236}">
                <a16:creationId xmlns:a16="http://schemas.microsoft.com/office/drawing/2014/main" id="{4A1F068C-B5CC-1126-6C3B-27468B1ACF1E}"/>
              </a:ext>
            </a:extLst>
          </p:cNvPr>
          <p:cNvSpPr txBox="1"/>
          <p:nvPr/>
        </p:nvSpPr>
        <p:spPr>
          <a:xfrm>
            <a:off x="4799856" y="2996952"/>
            <a:ext cx="50526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i="1" dirty="0"/>
              <a:t>w</a:t>
            </a:r>
            <a:r>
              <a:rPr lang="en-US" altLang="zh-TW" sz="2500" baseline="-25000" dirty="0"/>
              <a:t>1</a:t>
            </a:r>
            <a:endParaRPr lang="zh-TW" altLang="en-US" sz="2500" baseline="-250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AE19D13-9B06-01CB-62E0-7FE5D34DAE5D}"/>
              </a:ext>
            </a:extLst>
          </p:cNvPr>
          <p:cNvSpPr txBox="1"/>
          <p:nvPr/>
        </p:nvSpPr>
        <p:spPr>
          <a:xfrm>
            <a:off x="4799856" y="4221088"/>
            <a:ext cx="50526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i="1" dirty="0"/>
              <a:t>w</a:t>
            </a:r>
            <a:r>
              <a:rPr lang="en-US" altLang="zh-TW" sz="2500" baseline="-25000" dirty="0"/>
              <a:t>2</a:t>
            </a:r>
            <a:endParaRPr lang="zh-TW" altLang="en-US" sz="2500" baseline="-25000" dirty="0"/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AECDD82-BF8A-9F0B-A6F9-F78AFE2D2FEE}"/>
              </a:ext>
            </a:extLst>
          </p:cNvPr>
          <p:cNvCxnSpPr>
            <a:endCxn id="40" idx="0"/>
          </p:cNvCxnSpPr>
          <p:nvPr/>
        </p:nvCxnSpPr>
        <p:spPr bwMode="auto">
          <a:xfrm>
            <a:off x="6114699" y="4196517"/>
            <a:ext cx="0" cy="1418367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橢圓 39">
            <a:extLst>
              <a:ext uri="{FF2B5EF4-FFF2-40B4-BE49-F238E27FC236}">
                <a16:creationId xmlns:a16="http://schemas.microsoft.com/office/drawing/2014/main" id="{51E9826E-28C6-3BD1-0613-953E4318B914}"/>
              </a:ext>
            </a:extLst>
          </p:cNvPr>
          <p:cNvSpPr/>
          <p:nvPr/>
        </p:nvSpPr>
        <p:spPr bwMode="auto">
          <a:xfrm>
            <a:off x="5754699" y="5614884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1" lang="en-US" altLang="zh-TW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標楷體" pitchFamily="65" charset="-120"/>
              </a:rPr>
              <a:t>b</a:t>
            </a:r>
            <a:endParaRPr kumimoji="1" lang="zh-TW" altLang="en-US" sz="2500" b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8EE345A-AA37-2486-FFCC-A42EEF919DF3}"/>
              </a:ext>
            </a:extLst>
          </p:cNvPr>
          <p:cNvSpPr txBox="1"/>
          <p:nvPr/>
        </p:nvSpPr>
        <p:spPr>
          <a:xfrm>
            <a:off x="6816080" y="3383994"/>
            <a:ext cx="73609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i="1" dirty="0">
                <a:sym typeface="Symbol" panose="05050102010706020507" pitchFamily="18" charset="2"/>
              </a:rPr>
              <a:t></a:t>
            </a:r>
            <a:r>
              <a:rPr lang="en-US" altLang="zh-TW" sz="2500" dirty="0">
                <a:sym typeface="Symbol" panose="05050102010706020507" pitchFamily="18" charset="2"/>
              </a:rPr>
              <a:t>(</a:t>
            </a:r>
            <a:r>
              <a:rPr lang="en-US" altLang="zh-TW" sz="2500" i="1" dirty="0"/>
              <a:t>z</a:t>
            </a:r>
            <a:r>
              <a:rPr lang="en-US" altLang="zh-TW" sz="2500" dirty="0"/>
              <a:t>)</a:t>
            </a:r>
            <a:endParaRPr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5112355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745E9-115B-B734-4BE5-B9520BCD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C2C34E-6C09-DB23-7BB3-CEE4D012D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Update Weights </a:t>
            </a:r>
            <a:r>
              <a:rPr lang="en-US" altLang="zh-TW" i="1" dirty="0"/>
              <a:t>w</a:t>
            </a:r>
            <a:r>
              <a:rPr lang="en-US" altLang="zh-TW" i="1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w</a:t>
            </a:r>
            <a:r>
              <a:rPr lang="en-US" altLang="zh-TW" i="1" baseline="-25000" dirty="0"/>
              <a:t>2</a:t>
            </a:r>
            <a:r>
              <a:rPr lang="en-US" altLang="zh-TW" dirty="0"/>
              <a:t> and Bias </a:t>
            </a:r>
            <a:r>
              <a:rPr lang="en-US" altLang="zh-TW" i="1" dirty="0"/>
              <a:t>b</a:t>
            </a:r>
            <a:endParaRPr lang="zh-TW" altLang="en-US" i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81E53C-7C1A-84E3-023B-2F297BFC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36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07BAB4D-920B-59EA-A583-1E3F0D41E5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50" b="46367"/>
          <a:stretch>
            <a:fillRect/>
          </a:stretch>
        </p:blipFill>
        <p:spPr>
          <a:xfrm>
            <a:off x="983432" y="3356992"/>
            <a:ext cx="6535062" cy="10915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圖片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4D7737F5-E10C-4A83-2FB3-A080A478AF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659" b="2013"/>
          <a:stretch>
            <a:fillRect/>
          </a:stretch>
        </p:blipFill>
        <p:spPr>
          <a:xfrm>
            <a:off x="983432" y="4549228"/>
            <a:ext cx="6535062" cy="18722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圖片 7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24A3B708-6A5F-5B0F-90F4-51A572C0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3286"/>
          <a:stretch>
            <a:fillRect/>
          </a:stretch>
        </p:blipFill>
        <p:spPr>
          <a:xfrm>
            <a:off x="983432" y="1611397"/>
            <a:ext cx="6535062" cy="16490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圖片 8" descr="一張含有 文字, 行, 圖表, 字型 的圖片&#10;&#10;AI 產生的內容可能不正確。">
            <a:extLst>
              <a:ext uri="{FF2B5EF4-FFF2-40B4-BE49-F238E27FC236}">
                <a16:creationId xmlns:a16="http://schemas.microsoft.com/office/drawing/2014/main" id="{64514083-78D3-22C2-7640-3E7607889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331" y="2698259"/>
            <a:ext cx="3486627" cy="240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712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2A20E-258B-6C09-6AE7-F37D9335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9129E-C66A-C13A-8E8E-3EF31972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連鎖律應用：</a:t>
            </a:r>
            <a:r>
              <a:rPr lang="en-US" altLang="zh-TW" dirty="0"/>
              <a:t>Cross Entropy </a:t>
            </a:r>
            <a:r>
              <a:rPr lang="zh-TW" altLang="en-US" dirty="0"/>
              <a:t>與 </a:t>
            </a:r>
            <a:r>
              <a:rPr lang="en-US" altLang="zh-TW" dirty="0"/>
              <a:t>Sigmoid </a:t>
            </a:r>
            <a:r>
              <a:rPr lang="zh-TW" altLang="en-US" dirty="0"/>
              <a:t>的梯度推導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0E876D-8E97-8A27-7E29-C6191A526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5895C2-3818-A2F6-1E34-C271625C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37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596CEBF-4700-B888-E691-1680E8144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524001"/>
            <a:ext cx="7488832" cy="52481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8" name="圖片 7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6B45DB66-4380-52AD-D66C-83B18174EC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398"/>
          <a:stretch>
            <a:fillRect/>
          </a:stretch>
        </p:blipFill>
        <p:spPr>
          <a:xfrm>
            <a:off x="6959204" y="2492896"/>
            <a:ext cx="4966097" cy="22322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31055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B93EF-C820-D677-2092-18A9D8E5B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50065D-BC0F-565D-EEF8-E4ECCD6C6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Cross Entropy </a:t>
            </a:r>
            <a:r>
              <a:rPr lang="zh-TW" altLang="en-US" dirty="0"/>
              <a:t>與 </a:t>
            </a:r>
            <a:r>
              <a:rPr lang="en-US" altLang="zh-TW" dirty="0"/>
              <a:t>Sigmoid </a:t>
            </a:r>
            <a:r>
              <a:rPr lang="zh-TW" altLang="en-US" dirty="0"/>
              <a:t>的梯度推導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D8CD5F-BFA1-CC54-0A66-59E5B52E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38</a:t>
            </a:fld>
            <a:endParaRPr lang="en-US" altLang="zh-TW">
              <a:solidFill>
                <a:srgbClr val="000000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890AA65D-41C1-02EE-9190-C0431E20A91B}"/>
              </a:ext>
            </a:extLst>
          </p:cNvPr>
          <p:cNvGrpSpPr/>
          <p:nvPr/>
        </p:nvGrpSpPr>
        <p:grpSpPr>
          <a:xfrm>
            <a:off x="1127448" y="2132856"/>
            <a:ext cx="8335538" cy="4022635"/>
            <a:chOff x="1127448" y="2132856"/>
            <a:chExt cx="8335538" cy="4022635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96D18E02-A29A-4428-FE71-49B0FC8BE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7448" y="2132856"/>
              <a:ext cx="8335538" cy="409632"/>
            </a:xfrm>
            <a:prstGeom prst="rect">
              <a:avLst/>
            </a:prstGeom>
          </p:spPr>
        </p:pic>
        <p:pic>
          <p:nvPicPr>
            <p:cNvPr id="8" name="圖片 7" descr="一張含有 文字, 字型, 螢幕擷取畫面, 圖表 的圖片&#10;&#10;AI 產生的內容可能不正確。">
              <a:extLst>
                <a:ext uri="{FF2B5EF4-FFF2-40B4-BE49-F238E27FC236}">
                  <a16:creationId xmlns:a16="http://schemas.microsoft.com/office/drawing/2014/main" id="{F8461D32-F433-B232-A536-4C46255BC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5480" y="3068960"/>
              <a:ext cx="6954220" cy="30865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39325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AC14-6D4D-FBB0-AAF7-03215422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6508DA-31D7-AC35-C3EA-947849401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5F4F9F-9BDA-8EC9-D669-758E21CBE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39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7F7764B7-190B-09D9-694D-EC01E9ABF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1628800"/>
            <a:ext cx="4392488" cy="285837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7" name="圖片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E437ADE-4B97-EAA8-919B-A8B867E56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902" y="1543291"/>
            <a:ext cx="5616624" cy="3733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圖片 10" descr="一張含有 文字, 收據, 字型, 白色 的圖片&#10;&#10;AI 產生的內容可能不正確。">
            <a:extLst>
              <a:ext uri="{FF2B5EF4-FFF2-40B4-BE49-F238E27FC236}">
                <a16:creationId xmlns:a16="http://schemas.microsoft.com/office/drawing/2014/main" id="{2DE05C36-64AA-16EA-4337-9EE19DF1D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189" y="5283790"/>
            <a:ext cx="5616624" cy="12119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 descr="一張含有 文字, 字型, 螢幕擷取畫面, 筆跡 的圖片&#10;&#10;AI 產生的內容可能不正確。">
            <a:extLst>
              <a:ext uri="{FF2B5EF4-FFF2-40B4-BE49-F238E27FC236}">
                <a16:creationId xmlns:a16="http://schemas.microsoft.com/office/drawing/2014/main" id="{631C53ED-7246-7F11-EACB-791AB6444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59" y="4493294"/>
            <a:ext cx="4407196" cy="19125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976467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749720-382E-DD77-3227-2FBBD90A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9B4B3F-D84B-E5A3-63F5-AA5DE147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40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22372092-16F5-1F1D-BD81-AA1FFE1F7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179" y="409153"/>
            <a:ext cx="6563641" cy="60396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58715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9E7344-32C0-F602-56A5-309C28A9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何謂梯度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159186-1433-D3CD-6B6D-F031C661C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梯度（</a:t>
            </a:r>
            <a:r>
              <a:rPr lang="en-US" altLang="zh-TW" b="1" dirty="0"/>
              <a:t>Gradient</a:t>
            </a:r>
            <a:r>
              <a:rPr lang="zh-TW" altLang="en-US" b="1" dirty="0"/>
              <a:t>）</a:t>
            </a:r>
            <a:r>
              <a:rPr lang="zh-TW" altLang="en-US" dirty="0"/>
              <a:t> 可以理解為「斜率」在高維空間中的推廣。</a:t>
            </a:r>
            <a:endParaRPr lang="en-US" altLang="zh-TW" dirty="0"/>
          </a:p>
          <a:p>
            <a:endParaRPr lang="en-US" altLang="zh-TW" b="1" dirty="0"/>
          </a:p>
          <a:p>
            <a:r>
              <a:rPr lang="zh-TW" altLang="en-US" b="1" dirty="0"/>
              <a:t>梯度的兩大特性：</a:t>
            </a:r>
          </a:p>
          <a:p>
            <a:pPr lvl="1"/>
            <a:r>
              <a:rPr lang="zh-TW" altLang="en-US" dirty="0"/>
              <a:t>方向： 指向函數值增加最快的方向。</a:t>
            </a:r>
          </a:p>
          <a:p>
            <a:pPr lvl="1"/>
            <a:r>
              <a:rPr lang="zh-TW" altLang="en-US" dirty="0"/>
              <a:t>大小（模）： 代表在該方向上的變化率（坡度有多陡）。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B49C94-D895-371C-87BF-5CBD30F9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41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591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F6222C-FBDE-E00C-EFD6-C9CDA1B80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b="1" dirty="0"/>
              <a:t>梯度消失（</a:t>
            </a:r>
            <a:r>
              <a:rPr lang="en-US" altLang="zh-TW" b="1" dirty="0"/>
              <a:t>Vanishing Gradient</a:t>
            </a:r>
            <a:r>
              <a:rPr lang="zh-TW" altLang="en-US" b="1" dirty="0"/>
              <a:t>）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C23D98-1D7C-1C09-205B-F231B3E59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神經網路的訓練是基於「反向傳播」（</a:t>
            </a:r>
            <a:r>
              <a:rPr lang="en-US" altLang="zh-TW" dirty="0"/>
              <a:t>Backpropagation</a:t>
            </a:r>
            <a:r>
              <a:rPr lang="zh-TW" altLang="en-US" dirty="0"/>
              <a:t>）。當我們要更新網路前幾層（靠近輸入層）的參數時，必須從輸出層開始，一層一層地向前計算導數。根據微積分的連鎖律，這個過程本質上是</a:t>
            </a:r>
            <a:r>
              <a:rPr lang="zh-TW" altLang="en-US" b="1" dirty="0"/>
              <a:t>一系列導數的連乘</a:t>
            </a:r>
            <a:r>
              <a:rPr lang="zh-TW" altLang="en-US" dirty="0"/>
              <a:t>：</a:t>
            </a:r>
            <a:endParaRPr lang="en-US" altLang="zh-TW" dirty="0"/>
          </a:p>
          <a:p>
            <a:r>
              <a:rPr lang="zh-TW" altLang="en-US" dirty="0"/>
              <a:t>如果每一層的導數都小於 </a:t>
            </a:r>
            <a:r>
              <a:rPr lang="en-US" altLang="zh-TW" dirty="0"/>
              <a:t>1</a:t>
            </a:r>
            <a:r>
              <a:rPr lang="zh-TW" altLang="en-US" dirty="0"/>
              <a:t>，隨著網路層數（</a:t>
            </a:r>
            <a:r>
              <a:rPr lang="en-US" altLang="zh-TW" dirty="0"/>
              <a:t>n</a:t>
            </a:r>
            <a:r>
              <a:rPr lang="zh-TW" altLang="en-US" dirty="0"/>
              <a:t>）增加，這些小數連續相乘後的結果會以指數等級的速度萎縮。當網路達到數十層甚至上百層時，傳到前幾層的梯度就會變得微乎其微。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C7FB60-9F52-7E29-0BF9-8D7C05FF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42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202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87034-1924-2C30-A407-2FC4A344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97CE8-C072-AD74-541C-6F6C23358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b="1" dirty="0"/>
              <a:t>梯度消失（</a:t>
            </a:r>
            <a:r>
              <a:rPr lang="en-US" altLang="zh-TW" b="1" dirty="0"/>
              <a:t>Vanishing Gradient</a:t>
            </a:r>
            <a:r>
              <a:rPr lang="zh-TW" altLang="en-US" b="1" dirty="0"/>
              <a:t>）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399DF0-5CDD-A6BB-9E13-B01C6B0A8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早期的神經網路習慣使用 </a:t>
            </a:r>
            <a:r>
              <a:rPr lang="en-US" altLang="zh-TW" dirty="0"/>
              <a:t>Sigmoid </a:t>
            </a:r>
            <a:r>
              <a:rPr lang="zh-TW" altLang="en-US" dirty="0"/>
              <a:t>或 </a:t>
            </a:r>
            <a:r>
              <a:rPr lang="en-US" altLang="zh-TW" dirty="0"/>
              <a:t>Tanh </a:t>
            </a:r>
            <a:r>
              <a:rPr lang="zh-TW" altLang="en-US" dirty="0"/>
              <a:t>作為激活函數，它們是造成梯度消失的頭號戰犯：</a:t>
            </a:r>
            <a:endParaRPr lang="en-US" altLang="zh-TW" dirty="0"/>
          </a:p>
          <a:p>
            <a:pPr lvl="1"/>
            <a:r>
              <a:rPr lang="en-US" altLang="zh-TW" dirty="0"/>
              <a:t>Sigmoid </a:t>
            </a:r>
            <a:r>
              <a:rPr lang="zh-TW" altLang="en-US" dirty="0"/>
              <a:t>函數： 其導數最大值僅為 </a:t>
            </a:r>
            <a:r>
              <a:rPr lang="en-US" altLang="zh-TW" dirty="0"/>
              <a:t>0.25</a:t>
            </a:r>
            <a:r>
              <a:rPr lang="zh-TW" altLang="en-US" dirty="0"/>
              <a:t>（發生在輸入為 </a:t>
            </a:r>
            <a:r>
              <a:rPr lang="en-US" altLang="zh-TW" dirty="0"/>
              <a:t>0 </a:t>
            </a:r>
            <a:r>
              <a:rPr lang="zh-TW" altLang="en-US" dirty="0"/>
              <a:t>時）。這意味著每經過一層，梯度至少會衰減為原來的 </a:t>
            </a:r>
            <a:r>
              <a:rPr lang="en-US" altLang="zh-TW" dirty="0"/>
              <a:t>1/4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飽和問題： 當神經元的輸入非常大或非常小時，</a:t>
            </a:r>
            <a:r>
              <a:rPr lang="en-US" altLang="zh-TW" dirty="0"/>
              <a:t>Sigmoid </a:t>
            </a:r>
            <a:r>
              <a:rPr lang="zh-TW" altLang="en-US" dirty="0"/>
              <a:t>的曲線會變得非常平坦，其導數趨近於 </a:t>
            </a:r>
            <a:r>
              <a:rPr lang="en-US" altLang="zh-TW" dirty="0"/>
              <a:t>0</a:t>
            </a:r>
            <a:r>
              <a:rPr lang="zh-TW" altLang="en-US" dirty="0"/>
              <a:t>。一旦神經元進入這個「飽和區」，梯度就會消失，參數更新幾乎停滯。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624344-0AFE-6B88-4BA0-D6263EF7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43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2000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3273867-B5DD-C2FF-5AC2-20A37C3D3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0800" y="2141984"/>
            <a:ext cx="10363200" cy="1143000"/>
          </a:xfrm>
        </p:spPr>
        <p:txBody>
          <a:bodyPr/>
          <a:lstStyle/>
          <a:p>
            <a:r>
              <a:rPr lang="en-US" altLang="zh-TW" b="1" dirty="0">
                <a:solidFill>
                  <a:srgbClr val="0000FF"/>
                </a:solidFill>
              </a:rPr>
              <a:t>Thank you!!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B59E974A-2C9B-8E50-9CEE-EC0061FF13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186253-C2C2-D2FA-DD7E-6FEA86BF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8F1B9-BFED-4C05-BAC3-62D37F448029}" type="slidenum">
              <a:rPr lang="zh-TW" altLang="en-US" smtClean="0">
                <a:solidFill>
                  <a:srgbClr val="000000"/>
                </a:solidFill>
              </a:rPr>
              <a:pPr>
                <a:defRPr/>
              </a:pPr>
              <a:t>44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50396"/>
      </p:ext>
    </p:extLst>
  </p:cSld>
  <p:clrMapOvr>
    <a:masterClrMapping/>
  </p:clrMapOvr>
</p:sld>
</file>

<file path=ppt/theme/theme1.xml><?xml version="1.0" encoding="utf-8"?>
<a:theme xmlns:a="http://schemas.openxmlformats.org/drawingml/2006/main" name="科技">
  <a:themeElements>
    <a:clrScheme name="科技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科技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科技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1" lang="en-US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1" lang="en-US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科技">
  <a:themeElements>
    <a:clrScheme name="科技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科技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科技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1996</TotalTime>
  <Words>1539</Words>
  <Application>Microsoft Office PowerPoint</Application>
  <PresentationFormat>寬螢幕</PresentationFormat>
  <Paragraphs>285</Paragraphs>
  <Slides>44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44</vt:i4>
      </vt:variant>
    </vt:vector>
  </HeadingPairs>
  <TitlesOfParts>
    <vt:vector size="58" baseType="lpstr">
      <vt:lpstr>Google Sans Text</vt:lpstr>
      <vt:lpstr>新細明體</vt:lpstr>
      <vt:lpstr>Arial</vt:lpstr>
      <vt:lpstr>Calibri</vt:lpstr>
      <vt:lpstr>Cambria Math</vt:lpstr>
      <vt:lpstr>Franklin Gothic Book</vt:lpstr>
      <vt:lpstr>Symbol</vt:lpstr>
      <vt:lpstr>Tahoma</vt:lpstr>
      <vt:lpstr>Times New Roman</vt:lpstr>
      <vt:lpstr>Wingdings</vt:lpstr>
      <vt:lpstr>Wingdings 2</vt:lpstr>
      <vt:lpstr>科技</vt:lpstr>
      <vt:lpstr>Blends</vt:lpstr>
      <vt:lpstr>1_科技</vt:lpstr>
      <vt:lpstr>Artificial Neural Network</vt:lpstr>
      <vt:lpstr>為什麼需要類神經網路？</vt:lpstr>
      <vt:lpstr>Biological Neurons vs. Artificial Neurons</vt:lpstr>
      <vt:lpstr>Mathematical Model of Artificial Neurons</vt:lpstr>
      <vt:lpstr>Mathematical Model of Artificial Neurons</vt:lpstr>
      <vt:lpstr>Mathematical Model of Artificial Neurons</vt:lpstr>
      <vt:lpstr>Common Activation Functions</vt:lpstr>
      <vt:lpstr>Different Types of Activation Functions</vt:lpstr>
      <vt:lpstr>Why is an activation function needed?</vt:lpstr>
      <vt:lpstr>From a Single Neuron to a Network (The Architecture)</vt:lpstr>
      <vt:lpstr>Basic Architecture of Neural Networks</vt:lpstr>
      <vt:lpstr>Feedforward Propagation (前向傳播)</vt:lpstr>
      <vt:lpstr>Loss Function (損失函數)</vt:lpstr>
      <vt:lpstr>Different Types of Loss Functions</vt:lpstr>
      <vt:lpstr>Binary Cross Entropy (BCE)</vt:lpstr>
      <vt:lpstr>Binary Cross Entropy (二分類交叉熵)</vt:lpstr>
      <vt:lpstr>Cross Entropy Loss (交叉熵損失)</vt:lpstr>
      <vt:lpstr>Cross Entropy Loss (交叉熵損失)</vt:lpstr>
      <vt:lpstr>Backpropagation (反向傳播法)</vt:lpstr>
      <vt:lpstr>Update Weights by Gradient Descent (梯度下降法)</vt:lpstr>
      <vt:lpstr>Gradient Descent (梯度下降法)  Blind Man Goes Down the Mountain</vt:lpstr>
      <vt:lpstr>Gradient Descent (梯度下降法)  Blind Man Goes Down the Mountain</vt:lpstr>
      <vt:lpstr>Gradient Descent (梯度下降法)  Blind Man Goes Down the Mountain</vt:lpstr>
      <vt:lpstr>Gradient Descent (梯度下降法)  Blind Man Goes Down the Mountain</vt:lpstr>
      <vt:lpstr>Gradient Descent (梯度下降法)  Blind Man Goes Down the Mountain</vt:lpstr>
      <vt:lpstr>陷入局部最佳解</vt:lpstr>
      <vt:lpstr>Introduction to Differential Calculus (微分簡介) </vt:lpstr>
      <vt:lpstr>Basic Concepts of Differentiation (微分基礎概念)</vt:lpstr>
      <vt:lpstr>Basic Concepts of Differentiation (微分基礎概念)</vt:lpstr>
      <vt:lpstr>Differentiation of Logarithm (對數的微分)</vt:lpstr>
      <vt:lpstr>Introduction to Partial Differentiation (偏微分簡介)</vt:lpstr>
      <vt:lpstr>Differentiation vs Partial Differentiation (微分 vs 偏微分)</vt:lpstr>
      <vt:lpstr>Chain Rule (連鎖律)</vt:lpstr>
      <vt:lpstr>Apply Chain Rule to Update Weights and Bias (應用連鎖律於權重更新及偏移量更新)</vt:lpstr>
      <vt:lpstr>A Simple Example  for Backpropagation</vt:lpstr>
      <vt:lpstr>Update Weights w1, w2 and Bias b</vt:lpstr>
      <vt:lpstr>連鎖律應用：Cross Entropy 與 Sigmoid 的梯度推導</vt:lpstr>
      <vt:lpstr>Cross Entropy 與 Sigmoid 的梯度推導</vt:lpstr>
      <vt:lpstr>PowerPoint 簡報</vt:lpstr>
      <vt:lpstr>PowerPoint 簡報</vt:lpstr>
      <vt:lpstr>何謂梯度</vt:lpstr>
      <vt:lpstr>梯度消失（Vanishing Gradient）</vt:lpstr>
      <vt:lpstr>梯度消失（Vanishing Gradient）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資料探勘與決策分析</dc:title>
  <dc:creator>Admin- Research Lab</dc:creator>
  <cp:lastModifiedBy>昱安 陳</cp:lastModifiedBy>
  <cp:revision>257</cp:revision>
  <cp:lastPrinted>2018-11-19T05:46:59Z</cp:lastPrinted>
  <dcterms:created xsi:type="dcterms:W3CDTF">2006-08-16T00:00:00Z</dcterms:created>
  <dcterms:modified xsi:type="dcterms:W3CDTF">2025-12-26T10:58:57Z</dcterms:modified>
</cp:coreProperties>
</file>