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91" r:id="rId9"/>
    <p:sldId id="287" r:id="rId10"/>
    <p:sldId id="282" r:id="rId11"/>
    <p:sldId id="292" r:id="rId12"/>
    <p:sldId id="297" r:id="rId13"/>
    <p:sldId id="296" r:id="rId14"/>
    <p:sldId id="283" r:id="rId15"/>
    <p:sldId id="284" r:id="rId16"/>
    <p:sldId id="295" r:id="rId17"/>
    <p:sldId id="280" r:id="rId18"/>
    <p:sldId id="281" r:id="rId19"/>
  </p:sldIdLst>
  <p:sldSz cx="12192000" cy="6858000"/>
  <p:notesSz cx="6858000" cy="9144000"/>
  <p:embeddedFontLst>
    <p:embeddedFont>
      <p:font typeface="等线" panose="02010600030101010101" pitchFamily="2" charset="-122"/>
      <p:regular r:id="rId21"/>
      <p:bold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jf open 粉圓 2.1" panose="020B0500000000000000" pitchFamily="34" charset="-120"/>
      <p:regular r:id="rId27"/>
    </p:embeddedFont>
    <p:embeddedFont>
      <p:font typeface="辰宇落雁體 2.0 Thin" panose="02000203000000000000" pitchFamily="2" charset="-120"/>
      <p:regular r:id="rId28"/>
    </p:embeddedFont>
    <p:embeddedFont>
      <p:font typeface="微软雅黑 Light" panose="020B0502040204020203" pitchFamily="34" charset="-122"/>
      <p:regular r:id="rId29"/>
    </p:embeddedFont>
    <p:embeddedFont>
      <p:font typeface="標楷體" panose="03000509000000000000" pitchFamily="65" charset="-120"/>
      <p:regular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0D3CC"/>
    <a:srgbClr val="699034"/>
    <a:srgbClr val="B3D487"/>
    <a:srgbClr val="F7F3EE"/>
    <a:srgbClr val="D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6314" autoAdjust="0"/>
  </p:normalViewPr>
  <p:slideViewPr>
    <p:cSldViewPr snapToGrid="0">
      <p:cViewPr varScale="1">
        <p:scale>
          <a:sx n="76" d="100"/>
          <a:sy n="76" d="100"/>
        </p:scale>
        <p:origin x="845" y="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745CF-994B-453F-B62C-94C340D1A6FC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1EE5-BDC7-420E-AAAB-81BE73294E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4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693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84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172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在現今資訊安全威脅日益嚴重的環境中，企業與組織對於網路活動的記錄與事件追蹤需求越來越高。</a:t>
            </a:r>
            <a:r>
              <a:rPr lang="en-US" altLang="zh-TW" dirty="0"/>
              <a:t>Log</a:t>
            </a:r>
            <a:r>
              <a:rPr lang="zh-TW" altLang="en-US" dirty="0"/>
              <a:t>（紀錄檔）在資訊安全中扮演關鍵角色，不僅可用於事後鑑識與調查，更能即時偵測異常行為、防範潛在攻擊。有效的 </a:t>
            </a:r>
            <a:r>
              <a:rPr lang="en-US" altLang="zh-TW" dirty="0"/>
              <a:t>Log Server </a:t>
            </a:r>
            <a:r>
              <a:rPr lang="zh-TW" altLang="en-US" dirty="0"/>
              <a:t>建置可將分散於各系統、設備與應用程式的紀錄進行集中化管理與分析，進而提高資訊系統的可視性與防護力。本研究希望藉由了解並實作常見開源 </a:t>
            </a:r>
            <a:r>
              <a:rPr lang="en-US" altLang="zh-TW" dirty="0"/>
              <a:t>Log Server</a:t>
            </a:r>
            <a:r>
              <a:rPr lang="zh-TW" altLang="en-US" dirty="0"/>
              <a:t>，培養日誌管理與資安監控的實務能力，並為未來建構 </a:t>
            </a:r>
            <a:r>
              <a:rPr lang="en-US" altLang="zh-TW" dirty="0"/>
              <a:t>SIEM</a:t>
            </a:r>
            <a:r>
              <a:rPr lang="zh-TW" altLang="en-US" dirty="0"/>
              <a:t>（</a:t>
            </a:r>
            <a:r>
              <a:rPr lang="en-US" altLang="zh-TW" dirty="0"/>
              <a:t>Security Information and Event Management</a:t>
            </a:r>
            <a:r>
              <a:rPr lang="zh-TW" altLang="en-US" dirty="0"/>
              <a:t>）系統奠定基礎。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29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28700" lvl="1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講解</a:t>
            </a:r>
            <a:r>
              <a:rPr lang="en-US" altLang="zh-TW" dirty="0"/>
              <a:t>log server</a:t>
            </a:r>
            <a:r>
              <a:rPr lang="zh-TW" altLang="en-US" dirty="0"/>
              <a:t>的基本工作原理（類似</a:t>
            </a:r>
            <a:r>
              <a:rPr lang="en-US" altLang="zh-TW" dirty="0"/>
              <a:t>SSO</a:t>
            </a:r>
            <a:r>
              <a:rPr lang="zh-TW" altLang="en-US" dirty="0"/>
              <a:t>），</a:t>
            </a:r>
            <a:r>
              <a:rPr lang="zh-TW" alt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允許使用者透過一次性使用者身分驗證登入多個應用程式和網站，那 </a:t>
            </a:r>
            <a:r>
              <a:rPr lang="en-US" altLang="zh-TW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log server </a:t>
            </a:r>
            <a:r>
              <a:rPr lang="zh-TW" alt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主要是以</a:t>
            </a:r>
            <a:r>
              <a:rPr lang="zh-TW" altLang="en-US" sz="1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特定軟硬體所成，用以協助設備運作、負責</a:t>
            </a:r>
            <a:r>
              <a:rPr lang="zh-TW" altLang="en-US" sz="1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資訊接收、儲存、處理與分析、</a:t>
            </a:r>
            <a:r>
              <a:rPr lang="zh-TW" altLang="en-US" sz="1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客製化功能</a:t>
            </a:r>
            <a:endParaRPr lang="en-US" altLang="zh-TW" sz="1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117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IDS(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入侵檢測系統</a:t>
            </a:r>
            <a:r>
              <a:rPr lang="en-US" altLang="zh-CN" dirty="0"/>
              <a:t>)</a:t>
            </a:r>
            <a:r>
              <a:rPr lang="zh-TW" altLang="en-US" dirty="0"/>
              <a:t>、</a:t>
            </a:r>
            <a:r>
              <a:rPr lang="en-US" altLang="zh-TW" sz="1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Endpoint</a:t>
            </a:r>
            <a:r>
              <a:rPr lang="en-US" altLang="zh-TW" sz="1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</a:t>
            </a:r>
            <a:r>
              <a:rPr lang="zh-TW" altLang="en-US" sz="1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（通訊端點）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401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357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單一站式：自己可同時處理上述之各</a:t>
            </a:r>
            <a:r>
              <a:rPr lang="en-US" altLang="zh-TW" dirty="0"/>
              <a:t>log server</a:t>
            </a:r>
            <a:r>
              <a:rPr lang="zh-TW" altLang="en-US" dirty="0"/>
              <a:t>之功能，不需依賴其他模組，不過如需要功能上之進一步地提升（效能 </a:t>
            </a:r>
            <a:r>
              <a:rPr lang="en-US" altLang="zh-TW" dirty="0"/>
              <a:t>or </a:t>
            </a:r>
            <a:r>
              <a:rPr lang="zh-TW" altLang="en-US" dirty="0"/>
              <a:t>多元），可加入其他模塊進行兼容，支援多種來源的日誌資訊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70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Vector</a:t>
            </a:r>
            <a:r>
              <a:rPr lang="zh-TW" altLang="en-US" dirty="0"/>
              <a:t>：進行基於輕量化的日誌收集過濾模組，用以代替</a:t>
            </a:r>
            <a:r>
              <a:rPr lang="en-US" altLang="zh-TW" dirty="0" err="1"/>
              <a:t>logstach</a:t>
            </a:r>
            <a:r>
              <a:rPr lang="zh-TW" altLang="en-US" dirty="0"/>
              <a:t>，其他照舊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669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140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676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7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再來是第二個方向如下 </a:t>
            </a:r>
            <a:r>
              <a:rPr lang="en-US" altLang="zh-TW" dirty="0" err="1"/>
              <a:t>eql</a:t>
            </a:r>
            <a:r>
              <a:rPr lang="en-US" altLang="zh-TW" dirty="0"/>
              <a:t>:</a:t>
            </a:r>
            <a:r>
              <a:rPr lang="zh-TW" altLang="en-US" dirty="0"/>
              <a:t>事件搜尋語言</a:t>
            </a:r>
            <a:r>
              <a:rPr lang="zh-TW" altLang="en-US"/>
              <a:t>（輸入有效的數據以進行查詢事件的編譯，執行查詢及回傳結果）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284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8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404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761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089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1EE5-BDC7-420E-AAAB-81BE73294ED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E221C-70D6-4FF6-891C-344901B4BAD1}" type="datetime1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19">
            <a:extLst>
              <a:ext uri="{FF2B5EF4-FFF2-40B4-BE49-F238E27FC236}">
                <a16:creationId xmlns:a16="http://schemas.microsoft.com/office/drawing/2014/main" id="{8E3E1B25-6AC5-4AB0-BA25-9BF7AC407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" t="813" r="21104" b="813"/>
          <a:stretch/>
        </p:blipFill>
        <p:spPr>
          <a:xfrm rot="5400000" flipH="1">
            <a:off x="2676730" y="-2657270"/>
            <a:ext cx="6858001" cy="12172539"/>
          </a:xfrm>
          <a:prstGeom prst="rect">
            <a:avLst/>
          </a:prstGeom>
        </p:spPr>
      </p:pic>
      <p:grpSp>
        <p:nvGrpSpPr>
          <p:cNvPr id="8" name="组合 5">
            <a:extLst>
              <a:ext uri="{FF2B5EF4-FFF2-40B4-BE49-F238E27FC236}">
                <a16:creationId xmlns:a16="http://schemas.microsoft.com/office/drawing/2014/main" id="{F5BCBB9C-FC17-CED4-C81D-1FD241508DDA}"/>
              </a:ext>
            </a:extLst>
          </p:cNvPr>
          <p:cNvGrpSpPr/>
          <p:nvPr userDrawn="1"/>
        </p:nvGrpSpPr>
        <p:grpSpPr>
          <a:xfrm>
            <a:off x="10709157" y="2991818"/>
            <a:ext cx="1289286" cy="1393634"/>
            <a:chOff x="3172936" y="2500059"/>
            <a:chExt cx="1289286" cy="139363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E8E9F59-1BB5-AB19-85BD-26CBCF8977A8}"/>
                </a:ext>
              </a:extLst>
            </p:cNvPr>
            <p:cNvSpPr/>
            <p:nvPr/>
          </p:nvSpPr>
          <p:spPr>
            <a:xfrm>
              <a:off x="3172936" y="2774951"/>
              <a:ext cx="738664" cy="1035049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r>
                <a:rPr lang="zh-TW" altLang="en-US" sz="900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乙酉甲申雷雨驚乘除卻賀芒種晴插秧先插蚤稈稻少忍數旬蒸米成</a:t>
              </a:r>
              <a:endParaRPr lang="zh-CN" altLang="en-US" sz="9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pic>
          <p:nvPicPr>
            <p:cNvPr id="10" name="图片 7">
              <a:extLst>
                <a:ext uri="{FF2B5EF4-FFF2-40B4-BE49-F238E27FC236}">
                  <a16:creationId xmlns:a16="http://schemas.microsoft.com/office/drawing/2014/main" id="{22AAA1DF-AFCE-1C7E-C852-A99D7E1B1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1600" y="2639251"/>
              <a:ext cx="550622" cy="1254442"/>
            </a:xfrm>
            <a:prstGeom prst="rect">
              <a:avLst/>
            </a:prstGeom>
          </p:spPr>
        </p:pic>
        <p:cxnSp>
          <p:nvCxnSpPr>
            <p:cNvPr id="11" name="直接连接符 8">
              <a:extLst>
                <a:ext uri="{FF2B5EF4-FFF2-40B4-BE49-F238E27FC236}">
                  <a16:creationId xmlns:a16="http://schemas.microsoft.com/office/drawing/2014/main" id="{D43E6D98-6583-D075-3964-EDF6E7498BFF}"/>
                </a:ext>
              </a:extLst>
            </p:cNvPr>
            <p:cNvCxnSpPr>
              <a:cxnSpLocks/>
            </p:cNvCxnSpPr>
            <p:nvPr/>
          </p:nvCxnSpPr>
          <p:spPr>
            <a:xfrm>
              <a:off x="3397250" y="2774951"/>
              <a:ext cx="0" cy="94735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9">
              <a:extLst>
                <a:ext uri="{FF2B5EF4-FFF2-40B4-BE49-F238E27FC236}">
                  <a16:creationId xmlns:a16="http://schemas.microsoft.com/office/drawing/2014/main" id="{46901018-DD0E-483E-1203-52CDB736B83E}"/>
                </a:ext>
              </a:extLst>
            </p:cNvPr>
            <p:cNvCxnSpPr>
              <a:cxnSpLocks/>
            </p:cNvCxnSpPr>
            <p:nvPr/>
          </p:nvCxnSpPr>
          <p:spPr>
            <a:xfrm>
              <a:off x="3547348" y="2500059"/>
              <a:ext cx="0" cy="94735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0">
              <a:extLst>
                <a:ext uri="{FF2B5EF4-FFF2-40B4-BE49-F238E27FC236}">
                  <a16:creationId xmlns:a16="http://schemas.microsoft.com/office/drawing/2014/main" id="{3F3433CA-DB16-FFAC-B6D4-C36E1B6B70F7}"/>
                </a:ext>
              </a:extLst>
            </p:cNvPr>
            <p:cNvCxnSpPr>
              <a:cxnSpLocks/>
            </p:cNvCxnSpPr>
            <p:nvPr/>
          </p:nvCxnSpPr>
          <p:spPr>
            <a:xfrm>
              <a:off x="3680142" y="2792795"/>
              <a:ext cx="0" cy="94735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图片 4" descr="图片包含 猫, 就坐, 室内, 餐桌&#10;&#10;已生成高可信度的说明">
            <a:extLst>
              <a:ext uri="{FF2B5EF4-FFF2-40B4-BE49-F238E27FC236}">
                <a16:creationId xmlns:a16="http://schemas.microsoft.com/office/drawing/2014/main" id="{250735CA-126E-F8EF-ED66-BA53677B83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3" y="987552"/>
            <a:ext cx="4258453" cy="6018614"/>
          </a:xfrm>
          <a:prstGeom prst="rect">
            <a:avLst/>
          </a:prstGeom>
        </p:spPr>
      </p:pic>
      <p:grpSp>
        <p:nvGrpSpPr>
          <p:cNvPr id="15" name="组合 11">
            <a:extLst>
              <a:ext uri="{FF2B5EF4-FFF2-40B4-BE49-F238E27FC236}">
                <a16:creationId xmlns:a16="http://schemas.microsoft.com/office/drawing/2014/main" id="{AE5AE247-A4B6-CB11-6FDC-0CB02D2F1C71}"/>
              </a:ext>
            </a:extLst>
          </p:cNvPr>
          <p:cNvGrpSpPr/>
          <p:nvPr userDrawn="1"/>
        </p:nvGrpSpPr>
        <p:grpSpPr>
          <a:xfrm>
            <a:off x="11216363" y="4627276"/>
            <a:ext cx="611235" cy="479098"/>
            <a:chOff x="6527239" y="5601038"/>
            <a:chExt cx="492088" cy="385707"/>
          </a:xfrm>
        </p:grpSpPr>
        <p:pic>
          <p:nvPicPr>
            <p:cNvPr id="16" name="Picture 2" descr="http://img.hb.aicdn.com/abdfbcaeedb85dbf45185b6c0c52f5633f3cfe2e60c0-CoRSc5">
              <a:extLst>
                <a:ext uri="{FF2B5EF4-FFF2-40B4-BE49-F238E27FC236}">
                  <a16:creationId xmlns:a16="http://schemas.microsoft.com/office/drawing/2014/main" id="{E4FB57C4-F279-A088-7367-2DD3D6255D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580" y="5601038"/>
              <a:ext cx="374479" cy="385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8896F8AC-8397-3A77-00E5-6F3680614272}"/>
                </a:ext>
              </a:extLst>
            </p:cNvPr>
            <p:cNvSpPr txBox="1"/>
            <p:nvPr/>
          </p:nvSpPr>
          <p:spPr>
            <a:xfrm>
              <a:off x="6527239" y="5601038"/>
              <a:ext cx="492088" cy="346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古城</a:t>
              </a:r>
              <a:endParaRPr lang="en-US" altLang="zh-TW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印記</a:t>
              </a:r>
              <a:endParaRPr lang="en-US" altLang="zh-CN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6C3C7-086B-47DA-A88D-C26E7F0CB4BB}" type="datetime1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3">
            <a:extLst>
              <a:ext uri="{FF2B5EF4-FFF2-40B4-BE49-F238E27FC236}">
                <a16:creationId xmlns:a16="http://schemas.microsoft.com/office/drawing/2014/main" id="{A2620148-DF4D-3A09-70C3-35A60446A2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8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30" t="813" r="21104" b="813"/>
          <a:stretch/>
        </p:blipFill>
        <p:spPr>
          <a:xfrm rot="16200000">
            <a:off x="2667000" y="-2657270"/>
            <a:ext cx="6858001" cy="1217253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10200" y="50704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94E68-6CDC-47E1-850A-9C8E56E422C5}" type="datetime1">
              <a:rPr lang="zh-CN" altLang="en-US" smtClean="0"/>
              <a:t>2025/6/11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678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b="1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5532519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8085513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144F04AA-6ACC-4575-817C-27523BF189D3}"/>
              </a:ext>
            </a:extLst>
          </p:cNvPr>
          <p:cNvSpPr txBox="1"/>
          <p:nvPr/>
        </p:nvSpPr>
        <p:spPr>
          <a:xfrm>
            <a:off x="5023151" y="3429000"/>
            <a:ext cx="51779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汉仪小隶书简" panose="02010609000101010101" pitchFamily="49" charset="-122"/>
                <a:ea typeface="汉仪小隶书简" panose="02010609000101010101" pitchFamily="49" charset="-122"/>
              </a:defRPr>
            </a:lvl1pPr>
          </a:lstStyle>
          <a:p>
            <a:pPr algn="ctr"/>
            <a:r>
              <a:rPr lang="zh-TW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第五組</a:t>
            </a:r>
            <a:endParaRPr lang="en-US" altLang="zh-TW" sz="4800" dirty="0">
              <a:solidFill>
                <a:schemeClr val="tx1">
                  <a:lumMod val="75000"/>
                  <a:lumOff val="25000"/>
                </a:schemeClr>
              </a:solidFill>
              <a:latin typeface="辰宇落雁體 2.0 Thin" panose="02000203000000000000" pitchFamily="2" charset="-120"/>
              <a:ea typeface="辰宇落雁體 2.0 Thin" panose="02000203000000000000" pitchFamily="2" charset="-120"/>
            </a:endParaRPr>
          </a:p>
          <a:p>
            <a:pPr algn="ctr"/>
            <a:r>
              <a:rPr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B1141065 </a:t>
            </a:r>
            <a:r>
              <a:rPr lang="zh-TW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陳昱安</a:t>
            </a:r>
            <a:endParaRPr lang="en-US" altLang="zh-TW" sz="4800" dirty="0">
              <a:solidFill>
                <a:schemeClr val="tx1">
                  <a:lumMod val="75000"/>
                  <a:lumOff val="25000"/>
                </a:schemeClr>
              </a:solidFill>
              <a:latin typeface="辰宇落雁體 2.0 Thin" panose="02000203000000000000" pitchFamily="2" charset="-120"/>
              <a:ea typeface="辰宇落雁體 2.0 Thin" panose="02000203000000000000" pitchFamily="2" charset="-120"/>
            </a:endParaRPr>
          </a:p>
          <a:p>
            <a:pPr algn="ctr"/>
            <a:r>
              <a:rPr lang="en-US" altLang="zh-TW" sz="4800" b="0" i="0" dirty="0">
                <a:solidFill>
                  <a:srgbClr val="111111"/>
                </a:solidFill>
                <a:effectLst/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P1340004 </a:t>
            </a:r>
            <a:r>
              <a:rPr lang="zh-TW" altLang="en-US" sz="4800" b="0" i="0" dirty="0">
                <a:solidFill>
                  <a:srgbClr val="111111"/>
                </a:solidFill>
                <a:effectLst/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陳冠貿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辰宇落雁體 2.0 Thin" panose="02000203000000000000" pitchFamily="2" charset="-120"/>
              <a:ea typeface="辰宇落雁體 2.0 Thin" panose="02000203000000000000" pitchFamily="2" charset="-120"/>
            </a:endParaRPr>
          </a:p>
        </p:txBody>
      </p:sp>
      <p:sp>
        <p:nvSpPr>
          <p:cNvPr id="2" name="文本框 20">
            <a:extLst>
              <a:ext uri="{FF2B5EF4-FFF2-40B4-BE49-F238E27FC236}">
                <a16:creationId xmlns:a16="http://schemas.microsoft.com/office/drawing/2014/main" id="{F5B91146-8BF0-ACF9-273F-8CA2855AA3A1}"/>
              </a:ext>
            </a:extLst>
          </p:cNvPr>
          <p:cNvSpPr txBox="1"/>
          <p:nvPr/>
        </p:nvSpPr>
        <p:spPr>
          <a:xfrm>
            <a:off x="3807299" y="1674674"/>
            <a:ext cx="74529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汉仪小隶书简" panose="02010609000101010101" pitchFamily="49" charset="-122"/>
                <a:ea typeface="汉仪小隶书简" panose="02010609000101010101" pitchFamily="49" charset="-122"/>
              </a:defRPr>
            </a:lvl1pPr>
          </a:lstStyle>
          <a:p>
            <a:pPr algn="ctr"/>
            <a:r>
              <a:rPr lang="zh-TW" altLang="en-US" sz="4800" dirty="0"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 </a:t>
            </a:r>
            <a:r>
              <a:rPr lang="zh-TW" altLang="en-US" sz="5400" dirty="0"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整合式日誌平台實作與關聯資料分析機制之研究</a:t>
            </a:r>
            <a:endParaRPr lang="zh-CN" altLang="en-US" sz="5400" dirty="0">
              <a:solidFill>
                <a:schemeClr val="tx1">
                  <a:lumMod val="75000"/>
                  <a:lumOff val="25000"/>
                </a:schemeClr>
              </a:solidFill>
              <a:latin typeface="辰宇落雁體 2.0 Thin" panose="02000203000000000000" pitchFamily="2" charset="-120"/>
              <a:ea typeface="辰宇落雁體 2.0 Thin" panose="02000203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097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餐桌, 室内, 鲜花, 就坐&#10;&#10;已生成高可信度的说明">
            <a:extLst>
              <a:ext uri="{FF2B5EF4-FFF2-40B4-BE49-F238E27FC236}">
                <a16:creationId xmlns:a16="http://schemas.microsoft.com/office/drawing/2014/main" id="{21802201-BD51-461A-AD32-1FAC5FFCB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6" b="18313"/>
          <a:stretch/>
        </p:blipFill>
        <p:spPr>
          <a:xfrm>
            <a:off x="7333271" y="3341549"/>
            <a:ext cx="4727643" cy="3429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38F5A27-5CD4-4471-9866-08C9231EEB50}"/>
              </a:ext>
            </a:extLst>
          </p:cNvPr>
          <p:cNvSpPr txBox="1"/>
          <p:nvPr/>
        </p:nvSpPr>
        <p:spPr>
          <a:xfrm>
            <a:off x="2464596" y="1708184"/>
            <a:ext cx="2161210" cy="553998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sz="3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前情提要</a:t>
            </a:r>
            <a:endParaRPr lang="zh-CN" altLang="en-US" sz="3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576007-613B-42A7-8FCC-5D5866B59834}"/>
              </a:ext>
            </a:extLst>
          </p:cNvPr>
          <p:cNvSpPr txBox="1"/>
          <p:nvPr/>
        </p:nvSpPr>
        <p:spPr>
          <a:xfrm>
            <a:off x="2193944" y="2710465"/>
            <a:ext cx="3415482" cy="553998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sz="3000" dirty="0">
                <a:solidFill>
                  <a:srgbClr val="11111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實驗設備介紹</a:t>
            </a:r>
            <a:endParaRPr lang="zh-CN" altLang="en-US" sz="3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DA3A44-7B77-4CBA-ADD6-9C21EFAA9E89}"/>
              </a:ext>
            </a:extLst>
          </p:cNvPr>
          <p:cNvSpPr txBox="1"/>
          <p:nvPr/>
        </p:nvSpPr>
        <p:spPr>
          <a:xfrm>
            <a:off x="2600623" y="3728864"/>
            <a:ext cx="2938463" cy="553998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sz="3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實驗流程與步驟</a:t>
            </a:r>
            <a:endParaRPr lang="zh-CN" altLang="en-US" sz="3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A2BE7C-4E29-48E4-9FF3-36D28454F694}"/>
              </a:ext>
            </a:extLst>
          </p:cNvPr>
          <p:cNvSpPr txBox="1"/>
          <p:nvPr/>
        </p:nvSpPr>
        <p:spPr>
          <a:xfrm>
            <a:off x="2640773" y="4675237"/>
            <a:ext cx="2858162" cy="553998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sz="3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研究成果與呈現</a:t>
            </a:r>
            <a:endParaRPr lang="zh-CN" altLang="en-US" sz="3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180EFB-86A3-4E6A-BFAB-05F155AB4598}"/>
              </a:ext>
            </a:extLst>
          </p:cNvPr>
          <p:cNvSpPr/>
          <p:nvPr/>
        </p:nvSpPr>
        <p:spPr>
          <a:xfrm>
            <a:off x="8971614" y="810760"/>
            <a:ext cx="9911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 目錄</a:t>
            </a:r>
            <a:endParaRPr lang="zh-CN" altLang="en-US" sz="7200" dirty="0">
              <a:solidFill>
                <a:schemeClr val="tx1">
                  <a:lumMod val="75000"/>
                  <a:lumOff val="25000"/>
                </a:schemeClr>
              </a:solidFill>
              <a:latin typeface="辰宇落雁體 2.0 Thin" panose="02000203000000000000" pitchFamily="2" charset="-120"/>
              <a:ea typeface="辰宇落雁體 2.0 Thin" panose="02000203000000000000" pitchFamily="2" charset="-12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6C6195C-638F-45B4-8022-27258515D1FD}"/>
              </a:ext>
            </a:extLst>
          </p:cNvPr>
          <p:cNvGrpSpPr/>
          <p:nvPr/>
        </p:nvGrpSpPr>
        <p:grpSpPr>
          <a:xfrm>
            <a:off x="9276883" y="3053423"/>
            <a:ext cx="541565" cy="424489"/>
            <a:chOff x="6527239" y="5601038"/>
            <a:chExt cx="492088" cy="385707"/>
          </a:xfrm>
        </p:grpSpPr>
        <p:pic>
          <p:nvPicPr>
            <p:cNvPr id="22" name="Picture 2" descr="http://img.hb.aicdn.com/abdfbcaeedb85dbf45185b6c0c52f5633f3cfe2e60c0-CoRSc5">
              <a:extLst>
                <a:ext uri="{FF2B5EF4-FFF2-40B4-BE49-F238E27FC236}">
                  <a16:creationId xmlns:a16="http://schemas.microsoft.com/office/drawing/2014/main" id="{52EA4DC8-FF17-46A7-8DD8-CB569BABB2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580" y="5601038"/>
              <a:ext cx="374479" cy="385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E9CC5C5-2158-4CC5-9035-2D0C2A4B2C66}"/>
                </a:ext>
              </a:extLst>
            </p:cNvPr>
            <p:cNvSpPr txBox="1"/>
            <p:nvPr/>
          </p:nvSpPr>
          <p:spPr>
            <a:xfrm>
              <a:off x="6527239" y="5601038"/>
              <a:ext cx="492088" cy="363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0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古城</a:t>
              </a:r>
              <a:endParaRPr lang="en-US" altLang="zh-TW" sz="1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TW" altLang="en-US" sz="10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印記</a:t>
              </a:r>
              <a:endParaRPr lang="en-US" altLang="zh-CN" sz="1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98740C75-DEAC-40A1-B121-BB2DB245759C}"/>
              </a:ext>
            </a:extLst>
          </p:cNvPr>
          <p:cNvSpPr txBox="1"/>
          <p:nvPr/>
        </p:nvSpPr>
        <p:spPr>
          <a:xfrm rot="5400000">
            <a:off x="9191543" y="2543713"/>
            <a:ext cx="21695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CONTENTS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CAB34A-A7D8-4EA9-B4B9-EA502AF1A0BE}"/>
              </a:ext>
            </a:extLst>
          </p:cNvPr>
          <p:cNvSpPr/>
          <p:nvPr/>
        </p:nvSpPr>
        <p:spPr>
          <a:xfrm>
            <a:off x="1861233" y="1646773"/>
            <a:ext cx="665421" cy="680936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01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C6CDC9-0934-4857-962A-994F99ACD2F7}"/>
              </a:ext>
            </a:extLst>
          </p:cNvPr>
          <p:cNvSpPr/>
          <p:nvPr/>
        </p:nvSpPr>
        <p:spPr>
          <a:xfrm>
            <a:off x="1861233" y="2634484"/>
            <a:ext cx="665421" cy="680936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02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0F3430-2B4A-461E-A9EA-0AB0EA16352F}"/>
              </a:ext>
            </a:extLst>
          </p:cNvPr>
          <p:cNvSpPr/>
          <p:nvPr/>
        </p:nvSpPr>
        <p:spPr>
          <a:xfrm>
            <a:off x="1861233" y="3659908"/>
            <a:ext cx="665421" cy="680936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03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532BA7C-BF58-4ADB-B9B1-4962CCFE44A8}"/>
              </a:ext>
            </a:extLst>
          </p:cNvPr>
          <p:cNvSpPr/>
          <p:nvPr/>
        </p:nvSpPr>
        <p:spPr>
          <a:xfrm>
            <a:off x="1861233" y="4605367"/>
            <a:ext cx="665421" cy="680936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04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6">
            <a:extLst>
              <a:ext uri="{FF2B5EF4-FFF2-40B4-BE49-F238E27FC236}">
                <a16:creationId xmlns:a16="http://schemas.microsoft.com/office/drawing/2014/main" id="{A0009271-5556-E3FC-B2F4-7FDFC484C5F6}"/>
              </a:ext>
            </a:extLst>
          </p:cNvPr>
          <p:cNvSpPr txBox="1"/>
          <p:nvPr/>
        </p:nvSpPr>
        <p:spPr>
          <a:xfrm>
            <a:off x="2614017" y="5675661"/>
            <a:ext cx="2925069" cy="553998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sz="3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結論與未來展望</a:t>
            </a:r>
            <a:endParaRPr lang="zh-CN" altLang="en-US" sz="3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DE21C5-2211-C3E0-804D-D8F097B0F6EF}"/>
              </a:ext>
            </a:extLst>
          </p:cNvPr>
          <p:cNvSpPr/>
          <p:nvPr/>
        </p:nvSpPr>
        <p:spPr>
          <a:xfrm>
            <a:off x="1865859" y="5612192"/>
            <a:ext cx="665421" cy="680936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05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58832BEF-7285-B7F6-4D2E-6F32BDBB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66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餐桌&#10;&#10;已生成极高可信度的说明">
            <a:extLst>
              <a:ext uri="{FF2B5EF4-FFF2-40B4-BE49-F238E27FC236}">
                <a16:creationId xmlns:a16="http://schemas.microsoft.com/office/drawing/2014/main" id="{2A127A55-8F83-4401-9A7C-135DE2A02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94" y="-332041"/>
            <a:ext cx="4839606" cy="656616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68029C8-AC7B-4D77-ABF9-521A9BB7ED69}"/>
              </a:ext>
            </a:extLst>
          </p:cNvPr>
          <p:cNvSpPr txBox="1"/>
          <p:nvPr/>
        </p:nvSpPr>
        <p:spPr>
          <a:xfrm>
            <a:off x="3419807" y="3198167"/>
            <a:ext cx="2780862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前情提要</a:t>
            </a:r>
            <a:endParaRPr lang="zh-CN" altLang="en-US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8844D7E-F8ED-4819-B972-9BEF0DA41C82}"/>
              </a:ext>
            </a:extLst>
          </p:cNvPr>
          <p:cNvSpPr txBox="1"/>
          <p:nvPr/>
        </p:nvSpPr>
        <p:spPr>
          <a:xfrm>
            <a:off x="3750806" y="2181603"/>
            <a:ext cx="2161210" cy="769441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第一章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B495BE-B3DD-486B-93DE-C96AE3FB2B8A}"/>
              </a:ext>
            </a:extLst>
          </p:cNvPr>
          <p:cNvCxnSpPr/>
          <p:nvPr/>
        </p:nvCxnSpPr>
        <p:spPr>
          <a:xfrm>
            <a:off x="327975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6B58439-6F85-4176-BDAF-AEBF9ECCBBB8}"/>
              </a:ext>
            </a:extLst>
          </p:cNvPr>
          <p:cNvCxnSpPr/>
          <p:nvPr/>
        </p:nvCxnSpPr>
        <p:spPr>
          <a:xfrm>
            <a:off x="634072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7EFD0D6-8FDC-4312-A7DD-1711AD9362DF}"/>
              </a:ext>
            </a:extLst>
          </p:cNvPr>
          <p:cNvGrpSpPr/>
          <p:nvPr/>
        </p:nvGrpSpPr>
        <p:grpSpPr>
          <a:xfrm>
            <a:off x="4611810" y="4209938"/>
            <a:ext cx="611235" cy="479098"/>
            <a:chOff x="6527239" y="5601038"/>
            <a:chExt cx="492088" cy="385707"/>
          </a:xfrm>
        </p:grpSpPr>
        <p:pic>
          <p:nvPicPr>
            <p:cNvPr id="37" name="Picture 2" descr="http://img.hb.aicdn.com/abdfbcaeedb85dbf45185b6c0c52f5633f3cfe2e60c0-CoRSc5">
              <a:extLst>
                <a:ext uri="{FF2B5EF4-FFF2-40B4-BE49-F238E27FC236}">
                  <a16:creationId xmlns:a16="http://schemas.microsoft.com/office/drawing/2014/main" id="{690DD468-26DA-4183-974C-E264A01EC6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580" y="5601038"/>
              <a:ext cx="374479" cy="385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0C596A4-7A9C-4DBF-AB0C-9301C9387700}"/>
                </a:ext>
              </a:extLst>
            </p:cNvPr>
            <p:cNvSpPr txBox="1"/>
            <p:nvPr/>
          </p:nvSpPr>
          <p:spPr>
            <a:xfrm>
              <a:off x="6527239" y="5601038"/>
              <a:ext cx="492088" cy="346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古城</a:t>
              </a:r>
              <a:endParaRPr lang="en-US" altLang="zh-TW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印記</a:t>
              </a:r>
              <a:endParaRPr lang="zh-CN" altLang="en-US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E0A3BA86-3286-EE19-75B9-EEED94C6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5166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01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FFFD1-5F95-43F1-B67B-3B87A1B2ABAD}"/>
              </a:ext>
            </a:extLst>
          </p:cNvPr>
          <p:cNvSpPr txBox="1"/>
          <p:nvPr/>
        </p:nvSpPr>
        <p:spPr>
          <a:xfrm>
            <a:off x="-831470" y="307085"/>
            <a:ext cx="3822965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r"/>
            <a:r>
              <a:rPr lang="zh-TW" altLang="en-US" sz="50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前情提要</a:t>
            </a:r>
            <a:endParaRPr lang="zh-CN" altLang="en-US" sz="5000" dirty="0">
              <a:solidFill>
                <a:schemeClr val="tx1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5731-B9A4-439A-98A9-3B449F0BEC8C}"/>
              </a:ext>
            </a:extLst>
          </p:cNvPr>
          <p:cNvCxnSpPr>
            <a:cxnSpLocks/>
          </p:cNvCxnSpPr>
          <p:nvPr/>
        </p:nvCxnSpPr>
        <p:spPr>
          <a:xfrm flipV="1">
            <a:off x="4747098" y="-2"/>
            <a:ext cx="0" cy="1770502"/>
          </a:xfrm>
          <a:prstGeom prst="line">
            <a:avLst/>
          </a:prstGeom>
          <a:ln w="28575">
            <a:solidFill>
              <a:srgbClr val="A0D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B06F46D-9026-4E08-AF2C-575964FAAC90}"/>
              </a:ext>
            </a:extLst>
          </p:cNvPr>
          <p:cNvCxnSpPr>
            <a:cxnSpLocks/>
          </p:cNvCxnSpPr>
          <p:nvPr/>
        </p:nvCxnSpPr>
        <p:spPr>
          <a:xfrm flipV="1">
            <a:off x="7506511" y="5525376"/>
            <a:ext cx="0" cy="1332624"/>
          </a:xfrm>
          <a:prstGeom prst="line">
            <a:avLst/>
          </a:prstGeom>
          <a:ln w="28575">
            <a:solidFill>
              <a:srgbClr val="A0D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6261AF6F-1796-41F8-DB4B-37F74AA85D4A}"/>
              </a:ext>
            </a:extLst>
          </p:cNvPr>
          <p:cNvSpPr/>
          <p:nvPr/>
        </p:nvSpPr>
        <p:spPr>
          <a:xfrm>
            <a:off x="-98285" y="1861008"/>
            <a:ext cx="3822964" cy="70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36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瞭解 </a:t>
            </a:r>
            <a:r>
              <a:rPr lang="en-US" altLang="zh-TW" sz="36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log server</a:t>
            </a:r>
            <a:endParaRPr lang="zh-CN" altLang="en-US" sz="36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1026" name="Picture 2" descr="常见的内外网文件传输方法能进前5强的是这几个！ - 飞飞传输- 博客园">
            <a:extLst>
              <a:ext uri="{FF2B5EF4-FFF2-40B4-BE49-F238E27FC236}">
                <a16:creationId xmlns:a16="http://schemas.microsoft.com/office/drawing/2014/main" id="{A473AEBA-F519-3E27-5C10-63679A44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628" y="1547110"/>
            <a:ext cx="7406397" cy="38953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CEE3A6E-9E3F-621A-442D-20F0C374B98F}"/>
              </a:ext>
            </a:extLst>
          </p:cNvPr>
          <p:cNvSpPr/>
          <p:nvPr/>
        </p:nvSpPr>
        <p:spPr>
          <a:xfrm>
            <a:off x="0" y="4397237"/>
            <a:ext cx="4555911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3600" dirty="0">
                <a:solidFill>
                  <a:srgbClr val="0070C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日誌管理與資安監控</a:t>
            </a:r>
            <a:endParaRPr lang="zh-CN" altLang="en-US" sz="3600" dirty="0">
              <a:solidFill>
                <a:srgbClr val="0070C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algn="ctr">
              <a:lnSpc>
                <a:spcPct val="130000"/>
              </a:lnSpc>
            </a:pPr>
            <a:endParaRPr lang="zh-CN" altLang="en-US" sz="3600" dirty="0">
              <a:solidFill>
                <a:srgbClr val="0070C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BAC0E3-F035-B191-38F6-62CF5BC919A5}"/>
              </a:ext>
            </a:extLst>
          </p:cNvPr>
          <p:cNvSpPr/>
          <p:nvPr/>
        </p:nvSpPr>
        <p:spPr>
          <a:xfrm>
            <a:off x="-366303" y="3143147"/>
            <a:ext cx="4358999" cy="70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3600" dirty="0">
                <a:solidFill>
                  <a:srgbClr val="00B05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實作 </a:t>
            </a:r>
            <a:r>
              <a:rPr lang="en-US" altLang="zh-TW" sz="3600" dirty="0">
                <a:solidFill>
                  <a:srgbClr val="00B05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log server</a:t>
            </a:r>
            <a:endParaRPr lang="zh-CN" altLang="en-US" sz="3600" dirty="0">
              <a:solidFill>
                <a:srgbClr val="00B05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7D2B96C-7361-8CE1-7C1F-E1BC6F9AA43B}"/>
              </a:ext>
            </a:extLst>
          </p:cNvPr>
          <p:cNvSpPr txBox="1"/>
          <p:nvPr/>
        </p:nvSpPr>
        <p:spPr>
          <a:xfrm>
            <a:off x="6583194" y="113210"/>
            <a:ext cx="6532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https://www.cnblogs.com/ftrans/p/18459752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970352F5-AB97-BEE8-788D-B5FEAFCF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4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01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FFFD1-5F95-43F1-B67B-3B87A1B2ABAD}"/>
              </a:ext>
            </a:extLst>
          </p:cNvPr>
          <p:cNvSpPr txBox="1"/>
          <p:nvPr/>
        </p:nvSpPr>
        <p:spPr>
          <a:xfrm>
            <a:off x="323038" y="358859"/>
            <a:ext cx="3511733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r"/>
            <a:r>
              <a:rPr lang="en-US" altLang="zh-CN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</a:t>
            </a:r>
            <a:r>
              <a:rPr lang="en-US" altLang="zh-TW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og Server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90CCD19-CC68-4E2E-9A98-43CB351A6DC5}"/>
              </a:ext>
            </a:extLst>
          </p:cNvPr>
          <p:cNvSpPr/>
          <p:nvPr/>
        </p:nvSpPr>
        <p:spPr>
          <a:xfrm>
            <a:off x="501937" y="1220633"/>
            <a:ext cx="9459185" cy="4907113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marL="571500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日誌收攏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1028700" lvl="1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將分散各設備資訊集中於一區域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1028700" lvl="1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統一管理與分析</a:t>
            </a:r>
            <a:endParaRPr lang="en-US" altLang="zh-TW" sz="24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lvl="1">
              <a:lnSpc>
                <a:spcPct val="130000"/>
              </a:lnSpc>
            </a:pP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571500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基於</a:t>
            </a:r>
            <a:r>
              <a:rPr lang="zh-TW" altLang="en-US" sz="320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特定軟體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之伺服器系統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1028700" lvl="1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協助設備運作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1028700" lvl="1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負責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資訊接收、儲存、處理與分析</a:t>
            </a:r>
            <a:endParaRPr lang="en-US" altLang="zh-TW" sz="24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1028700" lvl="1" indent="-5715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客製化功能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571500" indent="-571500" algn="ctr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2417E60-025F-7F7E-BFD7-859169E1E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371" y="1887011"/>
            <a:ext cx="5326907" cy="2782357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5D38EE-FE28-0E2B-6082-48EBED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62D9C75-58DA-7444-AEDF-175083415733}"/>
              </a:ext>
            </a:extLst>
          </p:cNvPr>
          <p:cNvSpPr txBox="1"/>
          <p:nvPr/>
        </p:nvSpPr>
        <p:spPr>
          <a:xfrm>
            <a:off x="5503424" y="235748"/>
            <a:ext cx="614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https://docs.tpisoftware.com/logm/logscenario/</a:t>
            </a:r>
          </a:p>
        </p:txBody>
      </p:sp>
    </p:spTree>
    <p:extLst>
      <p:ext uri="{BB962C8B-B14F-4D97-AF65-F5344CB8AC3E}">
        <p14:creationId xmlns:p14="http://schemas.microsoft.com/office/powerpoint/2010/main" val="3917846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01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pic>
        <p:nvPicPr>
          <p:cNvPr id="23" name="图片 22" descr="图片包含 家具&#10;&#10;已生成高可信度的说明">
            <a:extLst>
              <a:ext uri="{FF2B5EF4-FFF2-40B4-BE49-F238E27FC236}">
                <a16:creationId xmlns:a16="http://schemas.microsoft.com/office/drawing/2014/main" id="{FDA32217-9A2C-4DC2-9E22-46AEA17545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1"/>
          <a:stretch/>
        </p:blipFill>
        <p:spPr>
          <a:xfrm>
            <a:off x="430342" y="4912469"/>
            <a:ext cx="2015865" cy="2158862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A1B8483-9580-4F95-8117-FCDF2BA96962}"/>
              </a:ext>
            </a:extLst>
          </p:cNvPr>
          <p:cNvSpPr/>
          <p:nvPr/>
        </p:nvSpPr>
        <p:spPr>
          <a:xfrm>
            <a:off x="584382" y="1285336"/>
            <a:ext cx="11351457" cy="1915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可與</a:t>
            </a:r>
            <a:r>
              <a:rPr lang="en-US" altLang="zh-TW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IDS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（</a:t>
            </a:r>
            <a:r>
              <a:rPr lang="en-US" altLang="zh-TW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Intrusion-detection system 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）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、</a:t>
            </a:r>
            <a:r>
              <a:rPr lang="en-US" altLang="zh-TW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Firewall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、</a:t>
            </a:r>
            <a:r>
              <a:rPr lang="en-US" altLang="zh-TW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Endpoint</a:t>
            </a: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等系統整合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作為事件監控與調查中心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6958D882-BA5C-51D8-514C-D140DC49C301}"/>
              </a:ext>
            </a:extLst>
          </p:cNvPr>
          <p:cNvSpPr txBox="1"/>
          <p:nvPr/>
        </p:nvSpPr>
        <p:spPr>
          <a:xfrm>
            <a:off x="323038" y="358859"/>
            <a:ext cx="3511733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r"/>
            <a:r>
              <a:rPr lang="en-US" altLang="zh-CN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</a:t>
            </a:r>
            <a:r>
              <a:rPr lang="en-US" altLang="zh-TW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og Server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F71E901-C9B0-D813-D215-7D4ED304A7FA}"/>
              </a:ext>
            </a:extLst>
          </p:cNvPr>
          <p:cNvSpPr txBox="1"/>
          <p:nvPr/>
        </p:nvSpPr>
        <p:spPr>
          <a:xfrm>
            <a:off x="4844375" y="122419"/>
            <a:ext cx="6711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https://www.paoan.com.tw/weak-electricity/information-network/</a:t>
            </a:r>
            <a:endParaRPr lang="zh-TW" altLang="en-US" dirty="0"/>
          </a:p>
        </p:txBody>
      </p:sp>
      <p:pic>
        <p:nvPicPr>
          <p:cNvPr id="2052" name="Picture 4" descr="資訊網路系統- 電視牆、UPS、弱電、容留、電腦電信機房系統整合- 包安科技">
            <a:extLst>
              <a:ext uri="{FF2B5EF4-FFF2-40B4-BE49-F238E27FC236}">
                <a16:creationId xmlns:a16="http://schemas.microsoft.com/office/drawing/2014/main" id="{DD6B1F13-5965-B63F-C6A3-C99A77DC3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681" y="2243226"/>
            <a:ext cx="6245158" cy="350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627C38-E34B-A174-BDA7-5C570575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06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餐桌&#10;&#10;已生成极高可信度的说明">
            <a:extLst>
              <a:ext uri="{FF2B5EF4-FFF2-40B4-BE49-F238E27FC236}">
                <a16:creationId xmlns:a16="http://schemas.microsoft.com/office/drawing/2014/main" id="{2A127A55-8F83-4401-9A7C-135DE2A02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94" y="-332041"/>
            <a:ext cx="4839606" cy="656616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68029C8-AC7B-4D77-ABF9-521A9BB7ED69}"/>
              </a:ext>
            </a:extLst>
          </p:cNvPr>
          <p:cNvSpPr txBox="1"/>
          <p:nvPr/>
        </p:nvSpPr>
        <p:spPr>
          <a:xfrm>
            <a:off x="3449176" y="3214935"/>
            <a:ext cx="2780862" cy="461665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實驗設備介紹</a:t>
            </a:r>
            <a:endParaRPr lang="zh-CN" altLang="en-US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8844D7E-F8ED-4819-B972-9BEF0DA41C82}"/>
              </a:ext>
            </a:extLst>
          </p:cNvPr>
          <p:cNvSpPr txBox="1"/>
          <p:nvPr/>
        </p:nvSpPr>
        <p:spPr>
          <a:xfrm>
            <a:off x="3750806" y="2181603"/>
            <a:ext cx="2161210" cy="769441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第二章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B495BE-B3DD-486B-93DE-C96AE3FB2B8A}"/>
              </a:ext>
            </a:extLst>
          </p:cNvPr>
          <p:cNvCxnSpPr/>
          <p:nvPr/>
        </p:nvCxnSpPr>
        <p:spPr>
          <a:xfrm>
            <a:off x="327975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6B58439-6F85-4176-BDAF-AEBF9ECCBBB8}"/>
              </a:ext>
            </a:extLst>
          </p:cNvPr>
          <p:cNvCxnSpPr/>
          <p:nvPr/>
        </p:nvCxnSpPr>
        <p:spPr>
          <a:xfrm>
            <a:off x="634072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921DB8-99F7-B763-6188-46AB2082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grpSp>
        <p:nvGrpSpPr>
          <p:cNvPr id="7" name="组合 35">
            <a:extLst>
              <a:ext uri="{FF2B5EF4-FFF2-40B4-BE49-F238E27FC236}">
                <a16:creationId xmlns:a16="http://schemas.microsoft.com/office/drawing/2014/main" id="{7507022E-33FC-80E0-E538-6891EDC08ABE}"/>
              </a:ext>
            </a:extLst>
          </p:cNvPr>
          <p:cNvGrpSpPr/>
          <p:nvPr/>
        </p:nvGrpSpPr>
        <p:grpSpPr>
          <a:xfrm>
            <a:off x="4611810" y="4209938"/>
            <a:ext cx="611235" cy="479098"/>
            <a:chOff x="6527239" y="5601038"/>
            <a:chExt cx="492088" cy="385707"/>
          </a:xfrm>
        </p:grpSpPr>
        <p:pic>
          <p:nvPicPr>
            <p:cNvPr id="8" name="Picture 2" descr="http://img.hb.aicdn.com/abdfbcaeedb85dbf45185b6c0c52f5633f3cfe2e60c0-CoRSc5">
              <a:extLst>
                <a:ext uri="{FF2B5EF4-FFF2-40B4-BE49-F238E27FC236}">
                  <a16:creationId xmlns:a16="http://schemas.microsoft.com/office/drawing/2014/main" id="{1C93187E-F3A1-A875-F6FF-E37E7495B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580" y="5601038"/>
              <a:ext cx="374479" cy="385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37">
              <a:extLst>
                <a:ext uri="{FF2B5EF4-FFF2-40B4-BE49-F238E27FC236}">
                  <a16:creationId xmlns:a16="http://schemas.microsoft.com/office/drawing/2014/main" id="{9DC98902-641A-A94D-178E-A9F05215C90C}"/>
                </a:ext>
              </a:extLst>
            </p:cNvPr>
            <p:cNvSpPr txBox="1"/>
            <p:nvPr/>
          </p:nvSpPr>
          <p:spPr>
            <a:xfrm>
              <a:off x="6527239" y="5601038"/>
              <a:ext cx="492088" cy="346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古城</a:t>
              </a:r>
              <a:endParaRPr lang="en-US" altLang="zh-TW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印記</a:t>
              </a:r>
              <a:endParaRPr lang="zh-CN" altLang="en-US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7248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02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pic>
        <p:nvPicPr>
          <p:cNvPr id="23" name="图片 22" descr="图片包含 家具&#10;&#10;已生成高可信度的说明">
            <a:extLst>
              <a:ext uri="{FF2B5EF4-FFF2-40B4-BE49-F238E27FC236}">
                <a16:creationId xmlns:a16="http://schemas.microsoft.com/office/drawing/2014/main" id="{FDA32217-9A2C-4DC2-9E22-46AEA17545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1"/>
          <a:stretch/>
        </p:blipFill>
        <p:spPr>
          <a:xfrm>
            <a:off x="180975" y="4873559"/>
            <a:ext cx="2015865" cy="2158862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A1B8483-9580-4F95-8117-FCDF2BA96962}"/>
              </a:ext>
            </a:extLst>
          </p:cNvPr>
          <p:cNvSpPr/>
          <p:nvPr/>
        </p:nvSpPr>
        <p:spPr>
          <a:xfrm>
            <a:off x="396314" y="933854"/>
            <a:ext cx="11351457" cy="2904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單一站式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架設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不需搭配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其他後端資料庫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可同時處理日誌的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收集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、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儲存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、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查詢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與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視覺化</a:t>
            </a:r>
            <a:endParaRPr lang="en-US" altLang="zh-TW" sz="24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部署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簡單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、介面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簡潔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及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現代化</a:t>
            </a:r>
            <a:endParaRPr lang="en-US" altLang="zh-TW" sz="32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支援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多種來源的日誌資訊</a:t>
            </a:r>
            <a:endParaRPr lang="en-US" altLang="zh-TW" sz="32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6958D882-BA5C-51D8-514C-D140DC49C301}"/>
              </a:ext>
            </a:extLst>
          </p:cNvPr>
          <p:cNvSpPr txBox="1"/>
          <p:nvPr/>
        </p:nvSpPr>
        <p:spPr>
          <a:xfrm>
            <a:off x="0" y="72080"/>
            <a:ext cx="4477180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r"/>
            <a:r>
              <a:rPr lang="en-US" altLang="zh-TW" sz="5000" dirty="0" err="1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OpenObserve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627C38-E34B-A174-BDA7-5C570575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9218" name="Picture 2" descr="OpenObserve 可观测平台探究">
            <a:extLst>
              <a:ext uri="{FF2B5EF4-FFF2-40B4-BE49-F238E27FC236}">
                <a16:creationId xmlns:a16="http://schemas.microsoft.com/office/drawing/2014/main" id="{7DF25C45-5AB2-0F79-AA4B-2B466369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255" y="2605875"/>
            <a:ext cx="5706357" cy="371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30D146F-C698-8D70-914D-B018911F086B}"/>
              </a:ext>
            </a:extLst>
          </p:cNvPr>
          <p:cNvSpPr txBox="1"/>
          <p:nvPr/>
        </p:nvSpPr>
        <p:spPr>
          <a:xfrm>
            <a:off x="5063247" y="133635"/>
            <a:ext cx="6157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https://xie.infoq.cn/article/5a0c75a2de6608758991cf164</a:t>
            </a:r>
          </a:p>
        </p:txBody>
      </p:sp>
    </p:spTree>
    <p:extLst>
      <p:ext uri="{BB962C8B-B14F-4D97-AF65-F5344CB8AC3E}">
        <p14:creationId xmlns:p14="http://schemas.microsoft.com/office/powerpoint/2010/main" val="110828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02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pic>
        <p:nvPicPr>
          <p:cNvPr id="23" name="图片 22" descr="图片包含 家具&#10;&#10;已生成高可信度的说明">
            <a:extLst>
              <a:ext uri="{FF2B5EF4-FFF2-40B4-BE49-F238E27FC236}">
                <a16:creationId xmlns:a16="http://schemas.microsoft.com/office/drawing/2014/main" id="{FDA32217-9A2C-4DC2-9E22-46AEA17545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1"/>
          <a:stretch/>
        </p:blipFill>
        <p:spPr>
          <a:xfrm>
            <a:off x="430342" y="4912469"/>
            <a:ext cx="2015865" cy="2158862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A1B8483-9580-4F95-8117-FCDF2BA96962}"/>
              </a:ext>
            </a:extLst>
          </p:cNvPr>
          <p:cNvSpPr/>
          <p:nvPr/>
        </p:nvSpPr>
        <p:spPr>
          <a:xfrm>
            <a:off x="630932" y="1002117"/>
            <a:ext cx="10672611" cy="3928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Vector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收集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並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處理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日誌資料、可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轉換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日誌格式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相較於 </a:t>
            </a:r>
            <a:r>
              <a:rPr lang="en-US" altLang="zh-TW" sz="2400" dirty="0" err="1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logstash</a:t>
            </a:r>
            <a:r>
              <a:rPr lang="en-US" altLang="zh-TW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(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基於</a:t>
            </a: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Ruby) 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更爲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輕量快速（基於</a:t>
            </a: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Rust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）</a:t>
            </a:r>
            <a:endParaRPr lang="en-US" altLang="zh-TW" sz="24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Elasticsearch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日誌資訊之儲存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Kibana </a:t>
            </a:r>
            <a:endParaRPr lang="en-US" altLang="zh-TW" sz="3200" b="1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視覺化圖表呈現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6958D882-BA5C-51D8-514C-D140DC49C301}"/>
              </a:ext>
            </a:extLst>
          </p:cNvPr>
          <p:cNvSpPr txBox="1"/>
          <p:nvPr/>
        </p:nvSpPr>
        <p:spPr>
          <a:xfrm>
            <a:off x="289917" y="189582"/>
            <a:ext cx="9554474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r"/>
            <a:r>
              <a:rPr lang="en-US" altLang="zh-TW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Vector + Elasticsearch + Kibana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627C38-E34B-A174-BDA7-5C570575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AE55576-0E56-ABE2-BE44-D77CA9EA3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822" y="2783073"/>
            <a:ext cx="8021480" cy="307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FA6842E-0426-8135-4061-5851B77BE36F}"/>
              </a:ext>
            </a:extLst>
          </p:cNvPr>
          <p:cNvSpPr txBox="1"/>
          <p:nvPr/>
        </p:nvSpPr>
        <p:spPr>
          <a:xfrm>
            <a:off x="2906139" y="6138555"/>
            <a:ext cx="7628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https://medium.com/%E7%A8%8B%E5%BC%8F%E4%B9%BE%E8%B2%A8/elk-%E6%95%99%E5%AD%B8%E8%88%87%E4%BB%8B%E7%B4%B9-c54af6f06e61</a:t>
            </a:r>
          </a:p>
        </p:txBody>
      </p:sp>
    </p:spTree>
    <p:extLst>
      <p:ext uri="{BB962C8B-B14F-4D97-AF65-F5344CB8AC3E}">
        <p14:creationId xmlns:p14="http://schemas.microsoft.com/office/powerpoint/2010/main" val="341413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餐桌&#10;&#10;已生成极高可信度的说明">
            <a:extLst>
              <a:ext uri="{FF2B5EF4-FFF2-40B4-BE49-F238E27FC236}">
                <a16:creationId xmlns:a16="http://schemas.microsoft.com/office/drawing/2014/main" id="{2A127A55-8F83-4401-9A7C-135DE2A02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94" y="-332041"/>
            <a:ext cx="4839606" cy="656616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68029C8-AC7B-4D77-ABF9-521A9BB7ED69}"/>
              </a:ext>
            </a:extLst>
          </p:cNvPr>
          <p:cNvSpPr txBox="1"/>
          <p:nvPr/>
        </p:nvSpPr>
        <p:spPr>
          <a:xfrm>
            <a:off x="2801128" y="3127595"/>
            <a:ext cx="4076958" cy="830997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實驗流程與步驟</a:t>
            </a:r>
            <a:endParaRPr lang="zh-CN" altLang="en-US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algn="dist"/>
            <a:endParaRPr lang="zh-CN" altLang="en-US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8844D7E-F8ED-4819-B972-9BEF0DA41C82}"/>
              </a:ext>
            </a:extLst>
          </p:cNvPr>
          <p:cNvSpPr txBox="1"/>
          <p:nvPr/>
        </p:nvSpPr>
        <p:spPr>
          <a:xfrm>
            <a:off x="3750806" y="2181603"/>
            <a:ext cx="2161210" cy="769441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第</a:t>
            </a:r>
            <a:r>
              <a:rPr lang="zh-TW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三</a:t>
            </a:r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章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B495BE-B3DD-486B-93DE-C96AE3FB2B8A}"/>
              </a:ext>
            </a:extLst>
          </p:cNvPr>
          <p:cNvCxnSpPr/>
          <p:nvPr/>
        </p:nvCxnSpPr>
        <p:spPr>
          <a:xfrm>
            <a:off x="2794900" y="3175806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6B58439-6F85-4176-BDAF-AEBF9ECCBBB8}"/>
              </a:ext>
            </a:extLst>
          </p:cNvPr>
          <p:cNvCxnSpPr/>
          <p:nvPr/>
        </p:nvCxnSpPr>
        <p:spPr>
          <a:xfrm>
            <a:off x="6905633" y="3149007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921DB8-99F7-B763-6188-46AB2082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7" name="组合 35">
            <a:extLst>
              <a:ext uri="{FF2B5EF4-FFF2-40B4-BE49-F238E27FC236}">
                <a16:creationId xmlns:a16="http://schemas.microsoft.com/office/drawing/2014/main" id="{7507022E-33FC-80E0-E538-6891EDC08ABE}"/>
              </a:ext>
            </a:extLst>
          </p:cNvPr>
          <p:cNvGrpSpPr/>
          <p:nvPr/>
        </p:nvGrpSpPr>
        <p:grpSpPr>
          <a:xfrm>
            <a:off x="4654220" y="3898652"/>
            <a:ext cx="611235" cy="479098"/>
            <a:chOff x="6527239" y="5601038"/>
            <a:chExt cx="492088" cy="385707"/>
          </a:xfrm>
        </p:grpSpPr>
        <p:pic>
          <p:nvPicPr>
            <p:cNvPr id="8" name="Picture 2" descr="http://img.hb.aicdn.com/abdfbcaeedb85dbf45185b6c0c52f5633f3cfe2e60c0-CoRSc5">
              <a:extLst>
                <a:ext uri="{FF2B5EF4-FFF2-40B4-BE49-F238E27FC236}">
                  <a16:creationId xmlns:a16="http://schemas.microsoft.com/office/drawing/2014/main" id="{1C93187E-F3A1-A875-F6FF-E37E7495B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580" y="5601038"/>
              <a:ext cx="374479" cy="385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37">
              <a:extLst>
                <a:ext uri="{FF2B5EF4-FFF2-40B4-BE49-F238E27FC236}">
                  <a16:creationId xmlns:a16="http://schemas.microsoft.com/office/drawing/2014/main" id="{9DC98902-641A-A94D-178E-A9F05215C90C}"/>
                </a:ext>
              </a:extLst>
            </p:cNvPr>
            <p:cNvSpPr txBox="1"/>
            <p:nvPr/>
          </p:nvSpPr>
          <p:spPr>
            <a:xfrm>
              <a:off x="6527239" y="5601038"/>
              <a:ext cx="492088" cy="346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古城</a:t>
              </a:r>
              <a:endParaRPr lang="en-US" altLang="zh-TW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印記</a:t>
              </a:r>
              <a:endParaRPr lang="zh-CN" altLang="en-US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6494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03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pic>
        <p:nvPicPr>
          <p:cNvPr id="23" name="图片 22" descr="图片包含 家具&#10;&#10;已生成高可信度的说明">
            <a:extLst>
              <a:ext uri="{FF2B5EF4-FFF2-40B4-BE49-F238E27FC236}">
                <a16:creationId xmlns:a16="http://schemas.microsoft.com/office/drawing/2014/main" id="{FDA32217-9A2C-4DC2-9E22-46AEA17545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1"/>
          <a:stretch/>
        </p:blipFill>
        <p:spPr>
          <a:xfrm>
            <a:off x="180975" y="4873559"/>
            <a:ext cx="2015865" cy="2158862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A1B8483-9580-4F95-8117-FCDF2BA96962}"/>
              </a:ext>
            </a:extLst>
          </p:cNvPr>
          <p:cNvSpPr/>
          <p:nvPr/>
        </p:nvSpPr>
        <p:spPr>
          <a:xfrm>
            <a:off x="420271" y="1513219"/>
            <a:ext cx="11351457" cy="2260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HOST-PC (</a:t>
            </a:r>
            <a:r>
              <a:rPr lang="en-US" altLang="zh-TW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Windows</a:t>
            </a: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架設 </a:t>
            </a:r>
            <a:r>
              <a:rPr lang="en-US" altLang="zh-TW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Vector + Elasticsearch + Kibana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VM1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（</a:t>
            </a:r>
            <a:r>
              <a:rPr lang="en-US" altLang="zh-TW" sz="3200" dirty="0" err="1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linux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）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架設 </a:t>
            </a:r>
            <a:r>
              <a:rPr lang="en-US" altLang="zh-TW" sz="2400" dirty="0" err="1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OpenObserve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6958D882-BA5C-51D8-514C-D140DC49C301}"/>
              </a:ext>
            </a:extLst>
          </p:cNvPr>
          <p:cNvSpPr txBox="1"/>
          <p:nvPr/>
        </p:nvSpPr>
        <p:spPr>
          <a:xfrm>
            <a:off x="258796" y="307085"/>
            <a:ext cx="7844344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l"/>
            <a:r>
              <a:rPr lang="zh-TW" altLang="en-US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實驗設備之架設 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627C38-E34B-A174-BDA7-5C570575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04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03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pic>
        <p:nvPicPr>
          <p:cNvPr id="23" name="图片 22" descr="图片包含 家具&#10;&#10;已生成高可信度的说明">
            <a:extLst>
              <a:ext uri="{FF2B5EF4-FFF2-40B4-BE49-F238E27FC236}">
                <a16:creationId xmlns:a16="http://schemas.microsoft.com/office/drawing/2014/main" id="{FDA32217-9A2C-4DC2-9E22-46AEA17545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1"/>
          <a:stretch/>
        </p:blipFill>
        <p:spPr>
          <a:xfrm>
            <a:off x="180975" y="4873559"/>
            <a:ext cx="2015865" cy="2158862"/>
          </a:xfrm>
          <a:prstGeom prst="rect">
            <a:avLst/>
          </a:prstGeom>
        </p:spPr>
      </p:pic>
      <p:sp>
        <p:nvSpPr>
          <p:cNvPr id="4" name="文本框 12">
            <a:extLst>
              <a:ext uri="{FF2B5EF4-FFF2-40B4-BE49-F238E27FC236}">
                <a16:creationId xmlns:a16="http://schemas.microsoft.com/office/drawing/2014/main" id="{6958D882-BA5C-51D8-514C-D140DC49C301}"/>
              </a:ext>
            </a:extLst>
          </p:cNvPr>
          <p:cNvSpPr txBox="1"/>
          <p:nvPr/>
        </p:nvSpPr>
        <p:spPr>
          <a:xfrm>
            <a:off x="180974" y="269270"/>
            <a:ext cx="5091651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l"/>
            <a:r>
              <a:rPr lang="zh-TW" altLang="en-US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整體實作流程 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627C38-E34B-A174-BDA7-5C570575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D7D83A2-8FAB-11FF-DF16-90CA0B076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0362" y="2008801"/>
            <a:ext cx="11289231" cy="274960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F7B676E-9022-AD2C-3B21-E5FE447BCCC2}"/>
              </a:ext>
            </a:extLst>
          </p:cNvPr>
          <p:cNvSpPr/>
          <p:nvPr/>
        </p:nvSpPr>
        <p:spPr>
          <a:xfrm>
            <a:off x="6096000" y="2584131"/>
            <a:ext cx="3982623" cy="15306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813B7E-CDEF-E915-49B7-A96CD9E8E056}"/>
              </a:ext>
            </a:extLst>
          </p:cNvPr>
          <p:cNvSpPr/>
          <p:nvPr/>
        </p:nvSpPr>
        <p:spPr>
          <a:xfrm rot="16200000">
            <a:off x="2621779" y="2341531"/>
            <a:ext cx="1841025" cy="2015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DA2F07-B2E2-9B79-88DB-286C92A910DA}"/>
              </a:ext>
            </a:extLst>
          </p:cNvPr>
          <p:cNvSpPr/>
          <p:nvPr/>
        </p:nvSpPr>
        <p:spPr>
          <a:xfrm>
            <a:off x="6096000" y="4443363"/>
            <a:ext cx="3982623" cy="979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對收集之日誌進行分類及</a:t>
            </a:r>
            <a:endParaRPr lang="en-US" altLang="zh-TW" sz="2400" dirty="0">
              <a:solidFill>
                <a:schemeClr val="tx1">
                  <a:lumMod val="75000"/>
                  <a:lumOff val="25000"/>
                </a:schemeClr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algn="ctr">
              <a:lnSpc>
                <a:spcPct val="130000"/>
              </a:lnSpc>
            </a:pPr>
            <a:r>
              <a:rPr lang="zh-TW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整理</a:t>
            </a:r>
            <a:endParaRPr lang="en-US" altLang="zh-TW" sz="2400" dirty="0">
              <a:solidFill>
                <a:schemeClr val="tx1">
                  <a:lumMod val="75000"/>
                  <a:lumOff val="25000"/>
                </a:schemeClr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271131-D7B5-0290-A838-EBD0B353AC75}"/>
              </a:ext>
            </a:extLst>
          </p:cNvPr>
          <p:cNvSpPr/>
          <p:nvPr/>
        </p:nvSpPr>
        <p:spPr>
          <a:xfrm>
            <a:off x="2324912" y="4566169"/>
            <a:ext cx="274667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從外界獲取其日誌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91E7E3-DE2E-AAAC-9B48-EC1BB6E4844E}"/>
              </a:ext>
            </a:extLst>
          </p:cNvPr>
          <p:cNvSpPr/>
          <p:nvPr/>
        </p:nvSpPr>
        <p:spPr>
          <a:xfrm>
            <a:off x="2268117" y="1343321"/>
            <a:ext cx="8169661" cy="635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以便於進行大數據分析和模型訓練</a:t>
            </a:r>
            <a:endParaRPr lang="en-US" altLang="zh-TW" sz="32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26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03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pic>
        <p:nvPicPr>
          <p:cNvPr id="23" name="图片 22" descr="图片包含 家具&#10;&#10;已生成高可信度的说明">
            <a:extLst>
              <a:ext uri="{FF2B5EF4-FFF2-40B4-BE49-F238E27FC236}">
                <a16:creationId xmlns:a16="http://schemas.microsoft.com/office/drawing/2014/main" id="{FDA32217-9A2C-4DC2-9E22-46AEA17545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71"/>
          <a:stretch/>
        </p:blipFill>
        <p:spPr>
          <a:xfrm>
            <a:off x="180975" y="4873559"/>
            <a:ext cx="2015865" cy="2158862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A1B8483-9580-4F95-8117-FCDF2BA96962}"/>
              </a:ext>
            </a:extLst>
          </p:cNvPr>
          <p:cNvSpPr/>
          <p:nvPr/>
        </p:nvSpPr>
        <p:spPr>
          <a:xfrm>
            <a:off x="659568" y="1216645"/>
            <a:ext cx="11351457" cy="3860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日誌數據之收集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Vector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（輕量化）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日誌之分群處理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Data Frame Analytics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（</a:t>
            </a:r>
            <a:r>
              <a:rPr lang="en-US" altLang="zh-TW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Elasticsearch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）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分析數據並產生關聯規則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EQL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（</a:t>
            </a: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Event Query Language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）</a:t>
            </a:r>
            <a:r>
              <a:rPr lang="en-US" altLang="zh-TW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or 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撰寫 </a:t>
            </a: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Painless 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腳本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（</a:t>
            </a:r>
            <a:r>
              <a:rPr lang="en-US" altLang="zh-TW" sz="2400" dirty="0"/>
              <a:t>Elasticsearch ML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）</a:t>
            </a: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用 </a:t>
            </a:r>
            <a:r>
              <a:rPr lang="en-US" altLang="zh-TW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Kibana</a:t>
            </a:r>
            <a:r>
              <a:rPr lang="en-US" altLang="zh-TW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</a:t>
            </a:r>
            <a:r>
              <a:rPr lang="zh-TW" altLang="en-US" sz="24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匯出制式化</a:t>
            </a:r>
            <a:r>
              <a:rPr lang="zh-TW" altLang="en-US" sz="24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表格</a:t>
            </a:r>
            <a:endParaRPr lang="en-US" altLang="zh-TW" sz="24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6958D882-BA5C-51D8-514C-D140DC49C301}"/>
              </a:ext>
            </a:extLst>
          </p:cNvPr>
          <p:cNvSpPr txBox="1"/>
          <p:nvPr/>
        </p:nvSpPr>
        <p:spPr>
          <a:xfrm>
            <a:off x="330741" y="269270"/>
            <a:ext cx="6128425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r"/>
            <a:r>
              <a:rPr lang="zh-TW" altLang="en-US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基本實作項目與步驟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627C38-E34B-A174-BDA7-5C570575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7D2789-7DE6-144A-7437-7FE82F3D6453}"/>
              </a:ext>
            </a:extLst>
          </p:cNvPr>
          <p:cNvSpPr txBox="1"/>
          <p:nvPr/>
        </p:nvSpPr>
        <p:spPr>
          <a:xfrm>
            <a:off x="2196840" y="5573067"/>
            <a:ext cx="100971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https://www.elastic.co/elasticsearch/machine-learning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https://www.elastic.co/docs/reference/apm/agents/go/log-correlation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https://www.elastic.co/docs/explore-analyze/machine-learning/data-frame-analytics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\</a:t>
            </a:r>
          </a:p>
          <a:p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https://stackoverflow.com/questions/34792146/export-to-csv-excel-from-kibana?utm_source</a:t>
            </a: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5221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餐桌&#10;&#10;已生成极高可信度的说明">
            <a:extLst>
              <a:ext uri="{FF2B5EF4-FFF2-40B4-BE49-F238E27FC236}">
                <a16:creationId xmlns:a16="http://schemas.microsoft.com/office/drawing/2014/main" id="{2A127A55-8F83-4401-9A7C-135DE2A02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94" y="-332041"/>
            <a:ext cx="4839606" cy="656616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68029C8-AC7B-4D77-ABF9-521A9BB7ED69}"/>
              </a:ext>
            </a:extLst>
          </p:cNvPr>
          <p:cNvSpPr txBox="1"/>
          <p:nvPr/>
        </p:nvSpPr>
        <p:spPr>
          <a:xfrm>
            <a:off x="3449176" y="3214935"/>
            <a:ext cx="2780862" cy="830997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研究成果與呈現</a:t>
            </a:r>
            <a:endParaRPr lang="zh-CN" altLang="en-US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endParaRPr lang="zh-CN" altLang="en-US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8844D7E-F8ED-4819-B972-9BEF0DA41C82}"/>
              </a:ext>
            </a:extLst>
          </p:cNvPr>
          <p:cNvSpPr txBox="1"/>
          <p:nvPr/>
        </p:nvSpPr>
        <p:spPr>
          <a:xfrm>
            <a:off x="3750806" y="2181603"/>
            <a:ext cx="2161210" cy="769441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第</a:t>
            </a:r>
            <a:r>
              <a:rPr lang="zh-TW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四</a:t>
            </a:r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章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B495BE-B3DD-486B-93DE-C96AE3FB2B8A}"/>
              </a:ext>
            </a:extLst>
          </p:cNvPr>
          <p:cNvCxnSpPr/>
          <p:nvPr/>
        </p:nvCxnSpPr>
        <p:spPr>
          <a:xfrm>
            <a:off x="327975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6B58439-6F85-4176-BDAF-AEBF9ECCBBB8}"/>
              </a:ext>
            </a:extLst>
          </p:cNvPr>
          <p:cNvCxnSpPr/>
          <p:nvPr/>
        </p:nvCxnSpPr>
        <p:spPr>
          <a:xfrm>
            <a:off x="634072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921DB8-99F7-B763-6188-46AB2082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  <p:grpSp>
        <p:nvGrpSpPr>
          <p:cNvPr id="7" name="组合 35">
            <a:extLst>
              <a:ext uri="{FF2B5EF4-FFF2-40B4-BE49-F238E27FC236}">
                <a16:creationId xmlns:a16="http://schemas.microsoft.com/office/drawing/2014/main" id="{7507022E-33FC-80E0-E538-6891EDC08ABE}"/>
              </a:ext>
            </a:extLst>
          </p:cNvPr>
          <p:cNvGrpSpPr/>
          <p:nvPr/>
        </p:nvGrpSpPr>
        <p:grpSpPr>
          <a:xfrm>
            <a:off x="4611810" y="4209938"/>
            <a:ext cx="611235" cy="479098"/>
            <a:chOff x="6527239" y="5601038"/>
            <a:chExt cx="492088" cy="385707"/>
          </a:xfrm>
        </p:grpSpPr>
        <p:pic>
          <p:nvPicPr>
            <p:cNvPr id="8" name="Picture 2" descr="http://img.hb.aicdn.com/abdfbcaeedb85dbf45185b6c0c52f5633f3cfe2e60c0-CoRSc5">
              <a:extLst>
                <a:ext uri="{FF2B5EF4-FFF2-40B4-BE49-F238E27FC236}">
                  <a16:creationId xmlns:a16="http://schemas.microsoft.com/office/drawing/2014/main" id="{1C93187E-F3A1-A875-F6FF-E37E7495B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580" y="5601038"/>
              <a:ext cx="374479" cy="385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37">
              <a:extLst>
                <a:ext uri="{FF2B5EF4-FFF2-40B4-BE49-F238E27FC236}">
                  <a16:creationId xmlns:a16="http://schemas.microsoft.com/office/drawing/2014/main" id="{9DC98902-641A-A94D-178E-A9F05215C90C}"/>
                </a:ext>
              </a:extLst>
            </p:cNvPr>
            <p:cNvSpPr txBox="1"/>
            <p:nvPr/>
          </p:nvSpPr>
          <p:spPr>
            <a:xfrm>
              <a:off x="6527239" y="5601038"/>
              <a:ext cx="492088" cy="346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古城</a:t>
              </a:r>
              <a:endParaRPr lang="en-US" altLang="zh-TW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印記</a:t>
              </a:r>
              <a:endParaRPr lang="zh-CN" altLang="en-US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7144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餐桌&#10;&#10;已生成极高可信度的说明">
            <a:extLst>
              <a:ext uri="{FF2B5EF4-FFF2-40B4-BE49-F238E27FC236}">
                <a16:creationId xmlns:a16="http://schemas.microsoft.com/office/drawing/2014/main" id="{2A127A55-8F83-4401-9A7C-135DE2A02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94" y="-332041"/>
            <a:ext cx="4839606" cy="656616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68029C8-AC7B-4D77-ABF9-521A9BB7ED69}"/>
              </a:ext>
            </a:extLst>
          </p:cNvPr>
          <p:cNvSpPr txBox="1"/>
          <p:nvPr/>
        </p:nvSpPr>
        <p:spPr>
          <a:xfrm>
            <a:off x="3449176" y="3214935"/>
            <a:ext cx="2780862" cy="830997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TW" altLang="en-US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結論與未來展望</a:t>
            </a:r>
            <a:endParaRPr lang="zh-CN" altLang="en-US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endParaRPr lang="zh-CN" altLang="en-US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8844D7E-F8ED-4819-B972-9BEF0DA41C82}"/>
              </a:ext>
            </a:extLst>
          </p:cNvPr>
          <p:cNvSpPr txBox="1"/>
          <p:nvPr/>
        </p:nvSpPr>
        <p:spPr>
          <a:xfrm>
            <a:off x="3750806" y="2181603"/>
            <a:ext cx="2161210" cy="769441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第</a:t>
            </a:r>
            <a:r>
              <a:rPr lang="zh-TW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五</a:t>
            </a:r>
            <a:r>
              <a:rPr lang="zh-CN" altLang="en-US" sz="4400" dirty="0">
                <a:solidFill>
                  <a:srgbClr val="A0D3C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章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B495BE-B3DD-486B-93DE-C96AE3FB2B8A}"/>
              </a:ext>
            </a:extLst>
          </p:cNvPr>
          <p:cNvCxnSpPr/>
          <p:nvPr/>
        </p:nvCxnSpPr>
        <p:spPr>
          <a:xfrm>
            <a:off x="327975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6B58439-6F85-4176-BDAF-AEBF9ECCBBB8}"/>
              </a:ext>
            </a:extLst>
          </p:cNvPr>
          <p:cNvCxnSpPr/>
          <p:nvPr/>
        </p:nvCxnSpPr>
        <p:spPr>
          <a:xfrm>
            <a:off x="6340723" y="3257760"/>
            <a:ext cx="0" cy="4188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921DB8-99F7-B763-6188-46AB2082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7" name="组合 35">
            <a:extLst>
              <a:ext uri="{FF2B5EF4-FFF2-40B4-BE49-F238E27FC236}">
                <a16:creationId xmlns:a16="http://schemas.microsoft.com/office/drawing/2014/main" id="{7507022E-33FC-80E0-E538-6891EDC08ABE}"/>
              </a:ext>
            </a:extLst>
          </p:cNvPr>
          <p:cNvGrpSpPr/>
          <p:nvPr/>
        </p:nvGrpSpPr>
        <p:grpSpPr>
          <a:xfrm>
            <a:off x="4611810" y="4209938"/>
            <a:ext cx="611235" cy="479098"/>
            <a:chOff x="6527239" y="5601038"/>
            <a:chExt cx="492088" cy="385707"/>
          </a:xfrm>
        </p:grpSpPr>
        <p:pic>
          <p:nvPicPr>
            <p:cNvPr id="8" name="Picture 2" descr="http://img.hb.aicdn.com/abdfbcaeedb85dbf45185b6c0c52f5633f3cfe2e60c0-CoRSc5">
              <a:extLst>
                <a:ext uri="{FF2B5EF4-FFF2-40B4-BE49-F238E27FC236}">
                  <a16:creationId xmlns:a16="http://schemas.microsoft.com/office/drawing/2014/main" id="{1C93187E-F3A1-A875-F6FF-E37E7495B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580" y="5601038"/>
              <a:ext cx="374479" cy="385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37">
              <a:extLst>
                <a:ext uri="{FF2B5EF4-FFF2-40B4-BE49-F238E27FC236}">
                  <a16:creationId xmlns:a16="http://schemas.microsoft.com/office/drawing/2014/main" id="{9DC98902-641A-A94D-178E-A9F05215C90C}"/>
                </a:ext>
              </a:extLst>
            </p:cNvPr>
            <p:cNvSpPr txBox="1"/>
            <p:nvPr/>
          </p:nvSpPr>
          <p:spPr>
            <a:xfrm>
              <a:off x="6527239" y="5601038"/>
              <a:ext cx="492088" cy="346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古城</a:t>
              </a:r>
              <a:endParaRPr lang="en-US" altLang="zh-TW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TW" altLang="en-US" sz="1100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印記</a:t>
              </a:r>
              <a:endParaRPr lang="zh-CN" altLang="en-US" sz="1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68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05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FF978E6-13E6-3227-3D66-6211C726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8" name="文本框 12">
            <a:extLst>
              <a:ext uri="{FF2B5EF4-FFF2-40B4-BE49-F238E27FC236}">
                <a16:creationId xmlns:a16="http://schemas.microsoft.com/office/drawing/2014/main" id="{EEFA9588-CE46-3A6B-23A9-CF132F1456E1}"/>
              </a:ext>
            </a:extLst>
          </p:cNvPr>
          <p:cNvSpPr txBox="1"/>
          <p:nvPr/>
        </p:nvSpPr>
        <p:spPr>
          <a:xfrm>
            <a:off x="505838" y="307085"/>
            <a:ext cx="5826867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l"/>
            <a:r>
              <a:rPr lang="zh-TW" altLang="en-US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結論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04DFA6-A0D5-27BC-00F6-A84A45DFE363}"/>
              </a:ext>
            </a:extLst>
          </p:cNvPr>
          <p:cNvSpPr/>
          <p:nvPr/>
        </p:nvSpPr>
        <p:spPr>
          <a:xfrm>
            <a:off x="766572" y="1314654"/>
            <a:ext cx="11351457" cy="3836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選擇</a:t>
            </a: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2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種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開源日誌平台在主機進行部署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日誌數據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收集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與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預處理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之驗證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lvl="1">
              <a:lnSpc>
                <a:spcPct val="130000"/>
              </a:lnSpc>
            </a:pP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產出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關聯規則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及呈現制式化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表格</a:t>
            </a:r>
            <a:endParaRPr lang="en-US" altLang="zh-TW" sz="32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080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46BAE0-2226-4298-BEFA-429ED3858FDC}"/>
              </a:ext>
            </a:extLst>
          </p:cNvPr>
          <p:cNvSpPr/>
          <p:nvPr/>
        </p:nvSpPr>
        <p:spPr>
          <a:xfrm>
            <a:off x="11303543" y="307085"/>
            <a:ext cx="888457" cy="626769"/>
          </a:xfrm>
          <a:prstGeom prst="rect">
            <a:avLst/>
          </a:prstGeom>
          <a:solidFill>
            <a:srgbClr val="A0D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latin typeface="Century Gothic" panose="020B0502020202020204" pitchFamily="34" charset="0"/>
              </a:rPr>
              <a:t>05</a:t>
            </a:r>
            <a:endParaRPr lang="zh-CN" altLang="en-US" sz="2800" b="1" i="1" dirty="0">
              <a:latin typeface="Century Gothic" panose="020B0502020202020204" pitchFamily="34" charset="0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FF978E6-13E6-3227-3D66-6211C726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8" name="文本框 12">
            <a:extLst>
              <a:ext uri="{FF2B5EF4-FFF2-40B4-BE49-F238E27FC236}">
                <a16:creationId xmlns:a16="http://schemas.microsoft.com/office/drawing/2014/main" id="{EEFA9588-CE46-3A6B-23A9-CF132F1456E1}"/>
              </a:ext>
            </a:extLst>
          </p:cNvPr>
          <p:cNvSpPr txBox="1"/>
          <p:nvPr/>
        </p:nvSpPr>
        <p:spPr>
          <a:xfrm>
            <a:off x="455596" y="408273"/>
            <a:ext cx="5826867" cy="861774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大标宋简体" panose="03000509000000000000" pitchFamily="65" charset="-122"/>
                <a:ea typeface="方正大标宋简体" panose="03000509000000000000" pitchFamily="65" charset="-122"/>
              </a:defRPr>
            </a:lvl1pPr>
          </a:lstStyle>
          <a:p>
            <a:pPr algn="l"/>
            <a:r>
              <a:rPr lang="zh-TW" altLang="en-US" sz="50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未來展望</a:t>
            </a:r>
            <a:endParaRPr lang="zh-CN" altLang="en-US" sz="50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04DFA6-A0D5-27BC-00F6-A84A45DFE363}"/>
              </a:ext>
            </a:extLst>
          </p:cNvPr>
          <p:cNvSpPr/>
          <p:nvPr/>
        </p:nvSpPr>
        <p:spPr>
          <a:xfrm>
            <a:off x="766572" y="1314654"/>
            <a:ext cx="11351457" cy="471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建立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輔助式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分析系統</a:t>
            </a: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提供給資料科學或資安人員使用（數據集）</a:t>
            </a:r>
            <a:endParaRPr lang="en-US" altLang="zh-TW" sz="28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導入</a:t>
            </a:r>
            <a:r>
              <a:rPr lang="en-US" altLang="zh-TW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ML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模型，進行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異常偵測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與</a:t>
            </a:r>
            <a:r>
              <a:rPr lang="zh-TW" altLang="en-US" sz="3200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系統事件預測</a:t>
            </a:r>
            <a:endParaRPr lang="en-US" altLang="zh-TW" sz="3200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建立訓練資料</a:t>
            </a:r>
            <a:endParaRPr lang="en-US" altLang="zh-TW" sz="28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可評估系統狀態資訊</a:t>
            </a:r>
            <a:endParaRPr lang="en-US" altLang="zh-TW" sz="28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lvl="1">
              <a:lnSpc>
                <a:spcPct val="130000"/>
              </a:lnSpc>
            </a:pPr>
            <a:endParaRPr lang="en-US" altLang="zh-TW" sz="24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TW" sz="32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BB8766F-399E-26B6-E02D-C9419AB4AF93}"/>
              </a:ext>
            </a:extLst>
          </p:cNvPr>
          <p:cNvSpPr txBox="1"/>
          <p:nvPr/>
        </p:nvSpPr>
        <p:spPr>
          <a:xfrm>
            <a:off x="6442300" y="5800248"/>
            <a:ext cx="46780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https://ieeexplore.ieee.org/document/5532519</a:t>
            </a:r>
            <a:endParaRPr lang="en-US" altLang="zh-TW" dirty="0"/>
          </a:p>
          <a:p>
            <a:r>
              <a:rPr lang="en-US" altLang="zh-TW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https://ieeexplore.ieee.org/document/8085513</a:t>
            </a:r>
            <a:endParaRPr lang="en-US" altLang="zh-TW" dirty="0"/>
          </a:p>
          <a:p>
            <a:r>
              <a:rPr lang="en-US" altLang="zh-TW" dirty="0"/>
              <a:t>https://ieeexplore.ieee.org/document/8806483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0467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3005C02E-714E-4861-B591-99E09261A555}"/>
              </a:ext>
            </a:extLst>
          </p:cNvPr>
          <p:cNvSpPr txBox="1"/>
          <p:nvPr/>
        </p:nvSpPr>
        <p:spPr>
          <a:xfrm>
            <a:off x="4126189" y="3000983"/>
            <a:ext cx="70995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汉仪小隶书简" panose="02010609000101010101" pitchFamily="49" charset="-122"/>
                <a:ea typeface="汉仪小隶书简" panose="02010609000101010101" pitchFamily="49" charset="-122"/>
              </a:defRPr>
            </a:lvl1pPr>
          </a:lstStyle>
          <a:p>
            <a:r>
              <a:rPr lang="zh-TW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辰宇落雁體 2.0 Thin" panose="02000203000000000000" pitchFamily="2" charset="-120"/>
                <a:ea typeface="辰宇落雁體 2.0 Thin" panose="02000203000000000000" pitchFamily="2" charset="-120"/>
              </a:rPr>
              <a:t>感謝各位聆聽</a:t>
            </a:r>
            <a:endParaRPr lang="zh-CN" altLang="en-US" sz="8000" dirty="0">
              <a:solidFill>
                <a:schemeClr val="tx1">
                  <a:lumMod val="75000"/>
                  <a:lumOff val="25000"/>
                </a:schemeClr>
              </a:solidFill>
              <a:latin typeface="辰宇落雁體 2.0 Thin" panose="02000203000000000000" pitchFamily="2" charset="-120"/>
              <a:ea typeface="辰宇落雁體 2.0 Thin" panose="02000203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622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8038</TotalTime>
  <Words>1228</Words>
  <Application>Microsoft Office PowerPoint</Application>
  <PresentationFormat>寬螢幕</PresentationFormat>
  <Paragraphs>163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8" baseType="lpstr">
      <vt:lpstr>Calibri Light</vt:lpstr>
      <vt:lpstr>等线</vt:lpstr>
      <vt:lpstr>Arial</vt:lpstr>
      <vt:lpstr>辰宇落雁體 2.0 Thin</vt:lpstr>
      <vt:lpstr>微软雅黑 Light</vt:lpstr>
      <vt:lpstr>jf open 粉圓 2.1</vt:lpstr>
      <vt:lpstr>Calibri</vt:lpstr>
      <vt:lpstr>Century Gothic</vt:lpstr>
      <vt:lpstr>標楷體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b1141065陳昱安</cp:lastModifiedBy>
  <cp:revision>89</cp:revision>
  <cp:lastPrinted>2025-05-13T14:01:43Z</cp:lastPrinted>
  <dcterms:created xsi:type="dcterms:W3CDTF">2018-05-23T08:42:45Z</dcterms:created>
  <dcterms:modified xsi:type="dcterms:W3CDTF">2025-06-11T05:08:45Z</dcterms:modified>
</cp:coreProperties>
</file>